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92848D9F-2CAF-472D-AFDE-6F231BCD5532}">
          <p14:sldIdLst>
            <p14:sldId id="256"/>
            <p14:sldId id="257"/>
            <p14:sldId id="258"/>
            <p14:sldId id="264"/>
            <p14:sldId id="259"/>
            <p14:sldId id="260"/>
            <p14:sldId id="261"/>
            <p14:sldId id="262"/>
            <p14:sldId id="263"/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2EEC5C-6EBB-2A0C-3679-863D036BE0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CC3B9F0-BA8B-136D-68ED-0EF934C426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43CB66-8215-99D5-8AAD-4EF044ABC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5AC40-0E39-47AC-B678-C205E9DB2B84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045CA4-48A2-12C7-0414-478B7AB38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1EC18F-FEF3-B0AC-365D-6B3345528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F0880-BC27-4B65-86FD-42C1B414DF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4439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45918C-74E0-AAAF-BF72-4448D6225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071A15-B784-23AC-9ABE-5A8794769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A0B161-DE5E-A719-5F53-1C67B9650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5AC40-0E39-47AC-B678-C205E9DB2B84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CED3F2-FABC-802E-50EF-842E160B9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A579C5-2C5C-6B8A-55D8-252280798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F0880-BC27-4B65-86FD-42C1B414DF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2788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64281F-5FE2-7993-71C9-A2B334117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2A6818-A7AC-3867-F42F-6A44886A9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5938B9-ADAE-7CED-64AE-863D2F731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5AC40-0E39-47AC-B678-C205E9DB2B84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9FC1B7-4AA8-971F-D97B-2B99EF687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F17B13-04E7-7B60-E554-12FDC6F0A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F0880-BC27-4B65-86FD-42C1B414DF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5755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2531D5-1C58-3B6D-6D78-9E63EA7BF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374595-BFAD-3C64-32D0-81169FE2E9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59EB9E9-1E02-8725-AF0E-FBA272F3C7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82BF0D-BC52-7598-EE9E-A16AC7105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5AC40-0E39-47AC-B678-C205E9DB2B84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41BD9B0-8240-D20F-F141-32E0DFC90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083C772-86D2-1FAA-D2A7-782D331ED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F0880-BC27-4B65-86FD-42C1B414DF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429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15C887-DA59-4D6E-27BB-0D01E1D6D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AE4E339-1CEB-7376-F678-92446570C1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B83BF73-A208-C649-1313-86F612DBF3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4B92B93-6FA7-9FBA-923D-34FB44FBA5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7C08E50-6E00-5ED0-A0C0-BBAA53A1F9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CB6BD7D-668F-1611-773B-8FB9F32BF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5AC40-0E39-47AC-B678-C205E9DB2B84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FF7B77A-B0CF-F91E-D858-5D1B17191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C1FF82B-B530-31FF-9FCC-765249484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F0880-BC27-4B65-86FD-42C1B414DF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8792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EEC6BA-8C47-953A-103C-1932E9C63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AF02D48-1AFC-919E-A4DF-C58C8DB37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5AC40-0E39-47AC-B678-C205E9DB2B84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26F2335-F250-3577-831E-B7C098BA4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FEB2825-D834-753C-49DC-E19E1039A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F0880-BC27-4B65-86FD-42C1B414DF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0648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622B417-0CD3-9F75-DE7F-A3DAF4AA0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5AC40-0E39-47AC-B678-C205E9DB2B84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D7DAE2D-784B-5086-7E56-15DA26699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833A44-44B0-E742-28B0-356B3D9CE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F0880-BC27-4B65-86FD-42C1B414DF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6955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B22FD7-45A7-9E09-5ECD-E27887DC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B7AEFC-160F-E911-D720-7C0859C84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4F19DF0-C43A-6AC1-99C4-7D749D6396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5E3F83-38FF-78FB-54DE-7D613108C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5AC40-0E39-47AC-B678-C205E9DB2B84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2D58F3B-D422-A87B-06F0-3813AFEC9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F0472F-5D53-6660-7AFA-25F27FB3F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F0880-BC27-4B65-86FD-42C1B414DF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5211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B5A213-BA07-CF66-BC7E-DD9D16DD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8E8FFAA-E670-2774-709A-A23EE1B3E6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2FA7E2D-EAF4-29C2-3E40-3B21CC537E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E3B3A0-1443-FB3C-237F-6FE6A7FB7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5AC40-0E39-47AC-B678-C205E9DB2B84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9DDF02F-80D4-C5FD-9596-B6FF884D6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FBD3BDF-E9B2-796F-BE1D-290FAF5C2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F0880-BC27-4B65-86FD-42C1B414DF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8213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B59861-5BD1-6563-001C-EFE21DE6D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02C31B0-3277-2C2E-ECEB-893EA81774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01EBD3-0489-19B6-35B0-23C60E05B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5AC40-0E39-47AC-B678-C205E9DB2B84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42174C-566A-459E-898A-71A7A6026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307243-32C0-6EE5-71E8-E63588865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F0880-BC27-4B65-86FD-42C1B414DF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264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CC9E778-8640-B75E-968C-2AD7645C40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11F6A0F-7D2F-6460-36BF-2FD4DEB803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CD14EF-4C85-D608-52B3-187EF1D71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5AC40-0E39-47AC-B678-C205E9DB2B84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2CA22A-6747-C842-0CDD-A82BF0067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BACD5D-909E-CE5B-E877-34D692174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F0880-BC27-4B65-86FD-42C1B414DF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2380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F74484B-F2D7-3BB5-217D-B79F9AE35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8B103DD-2DB5-54B6-65EF-1F5E719F7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41F145-9F11-9049-711E-A282E830F3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15AC40-0E39-47AC-B678-C205E9DB2B84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47204F-F616-5A49-609A-46950AEDA2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9B8232-C570-A0DB-0674-E9B46ABCAE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5F0880-BC27-4B65-86FD-42C1B414DF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802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3FC95E-5FF6-A6F2-8E6F-AD1353A44A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713DE08-378B-7E00-10C8-5AF9DC71CC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7340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0027A7-A8C2-C7E9-76DA-6D31A86A0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5FCA4E-AEEE-3C43-69E9-DD2C7570B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ko-KR" b="1" dirty="0"/>
              <a:t>[</a:t>
            </a:r>
            <a:r>
              <a:rPr lang="ko-KR" altLang="en-US" b="1" dirty="0"/>
              <a:t>버전 </a:t>
            </a:r>
            <a:r>
              <a:rPr lang="en-US" altLang="ko-KR" b="1" dirty="0"/>
              <a:t>A] </a:t>
            </a:r>
            <a:r>
              <a:rPr lang="ko-KR" altLang="en-US" b="1" dirty="0"/>
              <a:t>중앙 분배형 기획서 </a:t>
            </a:r>
            <a:r>
              <a:rPr lang="en-US" altLang="ko-KR" b="1" dirty="0"/>
              <a:t>(SaaS </a:t>
            </a:r>
            <a:r>
              <a:rPr lang="ko-KR" altLang="en-US" b="1" dirty="0"/>
              <a:t>모델</a:t>
            </a:r>
            <a:r>
              <a:rPr lang="en-US" altLang="ko-KR" b="1" dirty="0"/>
              <a:t>)</a:t>
            </a:r>
          </a:p>
          <a:p>
            <a:r>
              <a:rPr lang="en-US" altLang="ko-KR" b="1" dirty="0"/>
              <a:t>"</a:t>
            </a:r>
            <a:r>
              <a:rPr lang="ko-KR" altLang="en-US" b="1" dirty="0"/>
              <a:t>가입만 하세요</a:t>
            </a:r>
            <a:r>
              <a:rPr lang="en-US" altLang="ko-KR" b="1" dirty="0"/>
              <a:t>, </a:t>
            </a:r>
            <a:r>
              <a:rPr lang="ko-KR" altLang="en-US" b="1" dirty="0"/>
              <a:t>나머지는 우리가 다 해드립니다</a:t>
            </a:r>
            <a:r>
              <a:rPr lang="en-US" altLang="ko-KR" b="1" dirty="0"/>
              <a:t>."</a:t>
            </a:r>
            <a:endParaRPr lang="ko-KR" altLang="en-US" dirty="0"/>
          </a:p>
          <a:p>
            <a:r>
              <a:rPr lang="ko-KR" altLang="en-US" b="1" dirty="0"/>
              <a:t>프로젝트명</a:t>
            </a:r>
            <a:r>
              <a:rPr lang="en-US" altLang="ko-KR" b="1" dirty="0"/>
              <a:t>:</a:t>
            </a:r>
            <a:r>
              <a:rPr lang="ko-KR" altLang="en-US" dirty="0"/>
              <a:t> 오늘의 뉴스 </a:t>
            </a:r>
            <a:r>
              <a:rPr lang="en-US" altLang="ko-KR" dirty="0"/>
              <a:t>(</a:t>
            </a:r>
            <a:r>
              <a:rPr lang="ko-KR" altLang="en-US" dirty="0"/>
              <a:t>가칭</a:t>
            </a:r>
            <a:r>
              <a:rPr lang="en-US" altLang="ko-KR" dirty="0"/>
              <a:t>)</a:t>
            </a:r>
          </a:p>
          <a:p>
            <a:r>
              <a:rPr lang="ko-KR" altLang="en-US" b="1" dirty="0"/>
              <a:t>핵심 컨셉</a:t>
            </a:r>
            <a:r>
              <a:rPr lang="en-US" altLang="ko-KR" b="1" dirty="0"/>
              <a:t>:</a:t>
            </a:r>
            <a:r>
              <a:rPr lang="ko-KR" altLang="en-US" dirty="0"/>
              <a:t> 사용자가 웹사이트에 접속해 관심사와 시간을 설정하면</a:t>
            </a:r>
            <a:r>
              <a:rPr lang="en-US" altLang="ko-KR" dirty="0"/>
              <a:t>, </a:t>
            </a:r>
            <a:r>
              <a:rPr lang="ko-KR" altLang="en-US" dirty="0"/>
              <a:t>중앙 서버가 알아서 뉴스를 요약해 푸시 알림으로 </a:t>
            </a:r>
            <a:r>
              <a:rPr lang="ko-KR" altLang="en-US" dirty="0" err="1"/>
              <a:t>쏴주는</a:t>
            </a:r>
            <a:r>
              <a:rPr lang="ko-KR" altLang="en-US" dirty="0"/>
              <a:t> 구독형 서비스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시스템 구조</a:t>
            </a:r>
            <a:r>
              <a:rPr lang="en-US" altLang="ko-KR" b="1" dirty="0"/>
              <a:t>:</a:t>
            </a:r>
            <a:r>
              <a:rPr lang="ko-KR" altLang="en-US" dirty="0"/>
              <a:t> 클라이언트</a:t>
            </a:r>
            <a:r>
              <a:rPr lang="en-US" altLang="ko-KR" dirty="0"/>
              <a:t>-</a:t>
            </a:r>
            <a:r>
              <a:rPr lang="ko-KR" altLang="en-US" dirty="0"/>
              <a:t>서버</a:t>
            </a:r>
            <a:r>
              <a:rPr lang="en-US" altLang="ko-KR" dirty="0"/>
              <a:t>(Client-Server) </a:t>
            </a:r>
            <a:r>
              <a:rPr lang="ko-KR" altLang="en-US" dirty="0"/>
              <a:t>아키텍처</a:t>
            </a:r>
          </a:p>
          <a:p>
            <a:pPr lvl="1"/>
            <a:r>
              <a:rPr lang="ko-KR" altLang="en-US" b="1" dirty="0"/>
              <a:t>중앙 서버 </a:t>
            </a:r>
            <a:r>
              <a:rPr lang="en-US" altLang="ko-KR" b="1" dirty="0"/>
              <a:t>(</a:t>
            </a:r>
            <a:r>
              <a:rPr lang="ko-KR" altLang="en-US" b="1" dirty="0"/>
              <a:t>본부</a:t>
            </a:r>
            <a:r>
              <a:rPr lang="en-US" altLang="ko-KR" b="1" dirty="0"/>
              <a:t>):</a:t>
            </a:r>
            <a:r>
              <a:rPr lang="ko-KR" altLang="en-US" dirty="0"/>
              <a:t> </a:t>
            </a:r>
            <a:r>
              <a:rPr lang="en-US" altLang="ko-KR" dirty="0"/>
              <a:t>24</a:t>
            </a:r>
            <a:r>
              <a:rPr lang="ko-KR" altLang="en-US" dirty="0"/>
              <a:t>시간 내내 </a:t>
            </a:r>
            <a:r>
              <a:rPr lang="en-US" altLang="ko-KR" dirty="0"/>
              <a:t>5</a:t>
            </a:r>
            <a:r>
              <a:rPr lang="ko-KR" altLang="en-US" dirty="0"/>
              <a:t>분 주기로 전체 주제 뉴스를 크롤링하고</a:t>
            </a:r>
            <a:r>
              <a:rPr lang="en-US" altLang="ko-KR" dirty="0"/>
              <a:t>, 10</a:t>
            </a:r>
            <a:r>
              <a:rPr lang="ko-KR" altLang="en-US" dirty="0"/>
              <a:t>분 주기로 </a:t>
            </a:r>
            <a:r>
              <a:rPr lang="en-US" altLang="ko-KR" dirty="0"/>
              <a:t>Gemini API</a:t>
            </a:r>
            <a:r>
              <a:rPr lang="ko-KR" altLang="en-US" dirty="0"/>
              <a:t>를 호출해 요약본을 생성하여 중앙 </a:t>
            </a:r>
            <a:r>
              <a:rPr lang="en-US" altLang="ko-KR" dirty="0"/>
              <a:t>DB</a:t>
            </a:r>
            <a:r>
              <a:rPr lang="ko-KR" altLang="en-US" dirty="0"/>
              <a:t>에 </a:t>
            </a:r>
            <a:r>
              <a:rPr lang="ko-KR" altLang="en-US" dirty="0" err="1"/>
              <a:t>쌓아둡니다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b="1" dirty="0"/>
              <a:t>사용자 기기 </a:t>
            </a:r>
            <a:r>
              <a:rPr lang="en-US" altLang="ko-KR" b="1" dirty="0"/>
              <a:t>(</a:t>
            </a:r>
            <a:r>
              <a:rPr lang="ko-KR" altLang="en-US" b="1" dirty="0"/>
              <a:t>수신기</a:t>
            </a:r>
            <a:r>
              <a:rPr lang="en-US" altLang="ko-KR" b="1" dirty="0"/>
              <a:t>):</a:t>
            </a:r>
            <a:r>
              <a:rPr lang="ko-KR" altLang="en-US" dirty="0"/>
              <a:t> </a:t>
            </a:r>
            <a:r>
              <a:rPr lang="ko-KR" altLang="en-US" dirty="0" err="1"/>
              <a:t>크롤링이나</a:t>
            </a:r>
            <a:r>
              <a:rPr lang="ko-KR" altLang="en-US" dirty="0"/>
              <a:t> </a:t>
            </a:r>
            <a:r>
              <a:rPr lang="en-US" altLang="ko-KR" dirty="0"/>
              <a:t>AI </a:t>
            </a:r>
            <a:r>
              <a:rPr lang="ko-KR" altLang="en-US" dirty="0"/>
              <a:t>연산을 전혀 하지 않고</a:t>
            </a:r>
            <a:r>
              <a:rPr lang="en-US" altLang="ko-KR" dirty="0"/>
              <a:t>, </a:t>
            </a:r>
            <a:r>
              <a:rPr lang="ko-KR" altLang="en-US" dirty="0"/>
              <a:t>서버가 보내주는 알람만 가볍게 띄워줍니다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예상 기술 스택</a:t>
            </a:r>
            <a:r>
              <a:rPr lang="en-US" altLang="ko-KR" b="1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Python, Flask (</a:t>
            </a:r>
            <a:r>
              <a:rPr lang="ko-KR" altLang="en-US" dirty="0" err="1"/>
              <a:t>백엔드</a:t>
            </a:r>
            <a:r>
              <a:rPr lang="en-US" altLang="ko-KR" dirty="0"/>
              <a:t>), PostgreSQL/MySQL (</a:t>
            </a:r>
            <a:r>
              <a:rPr lang="ko-KR" altLang="en-US" dirty="0"/>
              <a:t>중앙 </a:t>
            </a:r>
            <a:r>
              <a:rPr lang="en-US" altLang="ko-KR" dirty="0"/>
              <a:t>DB), </a:t>
            </a:r>
            <a:r>
              <a:rPr lang="ko-KR" altLang="en-US" dirty="0"/>
              <a:t>웹 푸시 </a:t>
            </a:r>
            <a:r>
              <a:rPr lang="en-US" altLang="ko-KR" dirty="0"/>
              <a:t>API (</a:t>
            </a:r>
            <a:r>
              <a:rPr lang="ko-KR" altLang="en-US" dirty="0" err="1"/>
              <a:t>프론트엔드</a:t>
            </a:r>
            <a:r>
              <a:rPr lang="en-US" altLang="ko-KR" dirty="0"/>
              <a:t>).</a:t>
            </a:r>
          </a:p>
          <a:p>
            <a:r>
              <a:rPr lang="ko-KR" altLang="en-US" b="1" dirty="0"/>
              <a:t>👍 장점</a:t>
            </a:r>
            <a:r>
              <a:rPr lang="en-US" altLang="ko-KR" b="1" dirty="0"/>
              <a:t>:</a:t>
            </a:r>
            <a:r>
              <a:rPr lang="ko-KR" altLang="en-US" dirty="0"/>
              <a:t> * 사용자 편의성 압도적 </a:t>
            </a:r>
            <a:r>
              <a:rPr lang="en-US" altLang="ko-KR" dirty="0"/>
              <a:t>(API </a:t>
            </a:r>
            <a:r>
              <a:rPr lang="ko-KR" altLang="en-US" dirty="0"/>
              <a:t>키 발급 등 복잡한 과정 없이 가입만 하면 끝</a:t>
            </a:r>
            <a:r>
              <a:rPr lang="en-US" altLang="ko-KR" dirty="0"/>
              <a:t>).</a:t>
            </a:r>
          </a:p>
          <a:p>
            <a:pPr lvl="1"/>
            <a:r>
              <a:rPr lang="ko-KR" altLang="en-US" dirty="0"/>
              <a:t>컴퓨터나 핸드폰이 꺼져 있다가 켜져도</a:t>
            </a:r>
            <a:r>
              <a:rPr lang="en-US" altLang="ko-KR" dirty="0"/>
              <a:t>, </a:t>
            </a:r>
            <a:r>
              <a:rPr lang="ko-KR" altLang="en-US" dirty="0"/>
              <a:t>서버가 즉시 밀린 알림을 </a:t>
            </a:r>
            <a:r>
              <a:rPr lang="ko-KR" altLang="en-US" dirty="0" err="1"/>
              <a:t>쏴줄</a:t>
            </a:r>
            <a:r>
              <a:rPr lang="ko-KR" altLang="en-US" dirty="0"/>
              <a:t> 수 있음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맞춤형 광고를 섞어 보내는 형태의 수익 창출</a:t>
            </a:r>
            <a:r>
              <a:rPr lang="en-US" altLang="ko-KR" dirty="0"/>
              <a:t>(BM) </a:t>
            </a:r>
            <a:r>
              <a:rPr lang="ko-KR" altLang="en-US" dirty="0"/>
              <a:t>모델 구현에 적합함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⚠️ 단점 </a:t>
            </a:r>
            <a:r>
              <a:rPr lang="en-US" altLang="ko-KR" b="1" dirty="0"/>
              <a:t>(</a:t>
            </a:r>
            <a:r>
              <a:rPr lang="ko-KR" altLang="en-US" b="1" dirty="0"/>
              <a:t>도전 과제</a:t>
            </a:r>
            <a:r>
              <a:rPr lang="en-US" altLang="ko-KR" b="1" dirty="0"/>
              <a:t>):</a:t>
            </a:r>
            <a:r>
              <a:rPr lang="ko-KR" altLang="en-US" dirty="0"/>
              <a:t> * 실제 상용화 시 </a:t>
            </a:r>
            <a:r>
              <a:rPr lang="en-US" altLang="ko-KR" dirty="0"/>
              <a:t>24</a:t>
            </a:r>
            <a:r>
              <a:rPr lang="ko-KR" altLang="en-US" dirty="0"/>
              <a:t>시간 돌아가는 서버 임대 비용</a:t>
            </a:r>
            <a:r>
              <a:rPr lang="en-US" altLang="ko-KR" dirty="0"/>
              <a:t>(AWS </a:t>
            </a:r>
            <a:r>
              <a:rPr lang="ko-KR" altLang="en-US" dirty="0"/>
              <a:t>등</a:t>
            </a:r>
            <a:r>
              <a:rPr lang="en-US" altLang="ko-KR" dirty="0"/>
              <a:t>) </a:t>
            </a:r>
            <a:r>
              <a:rPr lang="ko-KR" altLang="en-US" dirty="0"/>
              <a:t>발생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사용자가 많아질수록 구글 </a:t>
            </a:r>
            <a:r>
              <a:rPr lang="en-US" altLang="ko-KR" dirty="0"/>
              <a:t>Gemini API </a:t>
            </a:r>
            <a:r>
              <a:rPr lang="ko-KR" altLang="en-US" dirty="0"/>
              <a:t>무료 할당량</a:t>
            </a:r>
            <a:r>
              <a:rPr lang="en-US" altLang="ko-KR" dirty="0"/>
              <a:t>(Rate Limit) </a:t>
            </a:r>
            <a:r>
              <a:rPr lang="ko-KR" altLang="en-US" dirty="0"/>
              <a:t>관리에 신경 써야 함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05469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9FB13A-7797-F421-6D27-D3AA9FBBB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C6C77E-3C2E-B407-B0B6-7813584DD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ko-KR" b="1" dirty="0"/>
              <a:t>"</a:t>
            </a:r>
            <a:r>
              <a:rPr lang="ko-KR" altLang="en-US" b="1" dirty="0" err="1"/>
              <a:t>서버비</a:t>
            </a:r>
            <a:r>
              <a:rPr lang="ko-KR" altLang="en-US" b="1" dirty="0"/>
              <a:t> </a:t>
            </a:r>
            <a:r>
              <a:rPr lang="en-US" altLang="ko-KR" b="1" dirty="0"/>
              <a:t>0</a:t>
            </a:r>
            <a:r>
              <a:rPr lang="ko-KR" altLang="en-US" b="1" dirty="0"/>
              <a:t>원</a:t>
            </a:r>
            <a:r>
              <a:rPr lang="en-US" altLang="ko-KR" b="1" dirty="0"/>
              <a:t>, </a:t>
            </a:r>
            <a:r>
              <a:rPr lang="ko-KR" altLang="en-US" b="1" dirty="0"/>
              <a:t>개인정보 유출 제로</a:t>
            </a:r>
            <a:r>
              <a:rPr lang="en-US" altLang="ko-KR" b="1" dirty="0"/>
              <a:t>. </a:t>
            </a:r>
            <a:r>
              <a:rPr lang="ko-KR" altLang="en-US" b="1" dirty="0"/>
              <a:t>내 </a:t>
            </a:r>
            <a:r>
              <a:rPr lang="en-US" altLang="ko-KR" b="1" dirty="0"/>
              <a:t>PC </a:t>
            </a:r>
            <a:r>
              <a:rPr lang="ko-KR" altLang="en-US" b="1" dirty="0"/>
              <a:t>안의 조용한 </a:t>
            </a:r>
            <a:r>
              <a:rPr lang="en-US" altLang="ko-KR" b="1" dirty="0"/>
              <a:t>AI </a:t>
            </a:r>
            <a:r>
              <a:rPr lang="ko-KR" altLang="en-US" b="1" dirty="0"/>
              <a:t>비서</a:t>
            </a:r>
            <a:r>
              <a:rPr lang="en-US" altLang="ko-KR" b="1" dirty="0"/>
              <a:t>."</a:t>
            </a:r>
            <a:endParaRPr lang="ko-KR" altLang="en-US" dirty="0"/>
          </a:p>
          <a:p>
            <a:r>
              <a:rPr lang="ko-KR" altLang="en-US" b="1" dirty="0"/>
              <a:t>프로젝트명</a:t>
            </a:r>
            <a:r>
              <a:rPr lang="en-US" altLang="ko-KR" b="1" dirty="0"/>
              <a:t>:</a:t>
            </a:r>
            <a:r>
              <a:rPr lang="ko-KR" altLang="en-US" dirty="0"/>
              <a:t> 오늘의 뉴스 </a:t>
            </a:r>
            <a:r>
              <a:rPr lang="en-US" altLang="ko-KR" dirty="0"/>
              <a:t>Local (</a:t>
            </a:r>
            <a:r>
              <a:rPr lang="ko-KR" altLang="en-US" dirty="0"/>
              <a:t>가칭</a:t>
            </a:r>
            <a:r>
              <a:rPr lang="en-US" altLang="ko-KR" dirty="0"/>
              <a:t>)</a:t>
            </a:r>
          </a:p>
          <a:p>
            <a:r>
              <a:rPr lang="ko-KR" altLang="en-US" b="1" dirty="0"/>
              <a:t>핵심 컨셉</a:t>
            </a:r>
            <a:r>
              <a:rPr lang="en-US" altLang="ko-KR" b="1" dirty="0"/>
              <a:t>:</a:t>
            </a:r>
            <a:r>
              <a:rPr lang="ko-KR" altLang="en-US" dirty="0"/>
              <a:t> 중앙 서버 없이</a:t>
            </a:r>
            <a:r>
              <a:rPr lang="en-US" altLang="ko-KR" dirty="0"/>
              <a:t>, </a:t>
            </a:r>
            <a:r>
              <a:rPr lang="ko-KR" altLang="en-US" dirty="0"/>
              <a:t>프로그램이 개별 사용자의 </a:t>
            </a:r>
            <a:r>
              <a:rPr lang="en-US" altLang="ko-KR" dirty="0"/>
              <a:t>PC</a:t>
            </a:r>
            <a:r>
              <a:rPr lang="ko-KR" altLang="en-US" dirty="0"/>
              <a:t>에 설치되어 백그라운드</a:t>
            </a:r>
            <a:r>
              <a:rPr lang="en-US" altLang="ko-KR" dirty="0"/>
              <a:t>(</a:t>
            </a:r>
            <a:r>
              <a:rPr lang="ko-KR" altLang="en-US" dirty="0"/>
              <a:t>시작 프로그램</a:t>
            </a:r>
            <a:r>
              <a:rPr lang="en-US" altLang="ko-KR" dirty="0"/>
              <a:t>)</a:t>
            </a:r>
            <a:r>
              <a:rPr lang="ko-KR" altLang="en-US" dirty="0"/>
              <a:t>에서 조용히 뉴스를 긁어오고 요약해 주는 독립형 봇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시스템 구조</a:t>
            </a:r>
            <a:r>
              <a:rPr lang="en-US" altLang="ko-KR" b="1" dirty="0"/>
              <a:t>:</a:t>
            </a:r>
            <a:r>
              <a:rPr lang="ko-KR" altLang="en-US" dirty="0"/>
              <a:t> 로컬 </a:t>
            </a:r>
            <a:r>
              <a:rPr lang="ko-KR" altLang="en-US" dirty="0" err="1"/>
              <a:t>스탠드얼론</a:t>
            </a:r>
            <a:r>
              <a:rPr lang="ko-KR" altLang="en-US" dirty="0"/>
              <a:t> </a:t>
            </a:r>
            <a:r>
              <a:rPr lang="en-US" altLang="ko-KR" dirty="0"/>
              <a:t>(Local Standalone) </a:t>
            </a:r>
            <a:r>
              <a:rPr lang="ko-KR" altLang="en-US" dirty="0"/>
              <a:t>아키텍처 </a:t>
            </a:r>
            <a:r>
              <a:rPr lang="en-US" altLang="ko-KR" dirty="0"/>
              <a:t>+ BYOK(Bring Your Own Key)</a:t>
            </a:r>
          </a:p>
          <a:p>
            <a:pPr lvl="1"/>
            <a:r>
              <a:rPr lang="ko-KR" altLang="en-US" b="1" dirty="0"/>
              <a:t>개별 사용자 </a:t>
            </a:r>
            <a:r>
              <a:rPr lang="en-US" altLang="ko-KR" b="1" dirty="0"/>
              <a:t>PC:</a:t>
            </a:r>
            <a:r>
              <a:rPr lang="ko-KR" altLang="en-US" dirty="0"/>
              <a:t> 각자의 컴퓨터가 스스로 </a:t>
            </a:r>
            <a:r>
              <a:rPr lang="en-US" altLang="ko-KR" dirty="0"/>
              <a:t>5</a:t>
            </a:r>
            <a:r>
              <a:rPr lang="ko-KR" altLang="en-US" dirty="0"/>
              <a:t>분마다 뉴스를 크롤링하고</a:t>
            </a:r>
            <a:r>
              <a:rPr lang="en-US" altLang="ko-KR" dirty="0"/>
              <a:t>, </a:t>
            </a:r>
            <a:r>
              <a:rPr lang="ko-KR" altLang="en-US" b="1" dirty="0"/>
              <a:t>사용자 본인이 직접 발급받아 입력한 </a:t>
            </a:r>
            <a:r>
              <a:rPr lang="en-US" altLang="ko-KR" b="1" dirty="0"/>
              <a:t>Gemini API </a:t>
            </a:r>
            <a:r>
              <a:rPr lang="ko-KR" altLang="en-US" b="1" dirty="0"/>
              <a:t>키</a:t>
            </a:r>
            <a:r>
              <a:rPr lang="ko-KR" altLang="en-US" dirty="0"/>
              <a:t>를 사용해 요약합니다</a:t>
            </a:r>
            <a:r>
              <a:rPr lang="en-US" altLang="ko-KR" dirty="0"/>
              <a:t>. </a:t>
            </a:r>
            <a:r>
              <a:rPr lang="ko-KR" altLang="en-US" dirty="0"/>
              <a:t>데이터는 내 컴퓨터 폴더 안</a:t>
            </a:r>
            <a:r>
              <a:rPr lang="en-US" altLang="ko-KR" dirty="0"/>
              <a:t>(SQLite)</a:t>
            </a:r>
            <a:r>
              <a:rPr lang="ko-KR" altLang="en-US" dirty="0"/>
              <a:t>에만 저장됩니다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예상 기술 스택</a:t>
            </a:r>
            <a:r>
              <a:rPr lang="en-US" altLang="ko-KR" b="1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Python (</a:t>
            </a:r>
            <a:r>
              <a:rPr lang="ko-KR" altLang="en-US" dirty="0"/>
              <a:t>백그라운드 실행</a:t>
            </a:r>
            <a:r>
              <a:rPr lang="en-US" altLang="ko-KR" dirty="0"/>
              <a:t>/exe </a:t>
            </a:r>
            <a:r>
              <a:rPr lang="ko-KR" altLang="en-US" dirty="0"/>
              <a:t>배포</a:t>
            </a:r>
            <a:r>
              <a:rPr lang="en-US" altLang="ko-KR" dirty="0"/>
              <a:t>), SQLite (</a:t>
            </a:r>
            <a:r>
              <a:rPr lang="ko-KR" altLang="en-US" dirty="0"/>
              <a:t>로컬 </a:t>
            </a:r>
            <a:r>
              <a:rPr lang="en-US" altLang="ko-KR" dirty="0"/>
              <a:t>DB </a:t>
            </a:r>
            <a:r>
              <a:rPr lang="ko-KR" altLang="en-US" dirty="0"/>
              <a:t>파일</a:t>
            </a:r>
            <a:r>
              <a:rPr lang="en-US" altLang="ko-KR" dirty="0"/>
              <a:t>), </a:t>
            </a:r>
            <a:r>
              <a:rPr lang="ko-KR" altLang="en-US" dirty="0"/>
              <a:t>데스크톱 알림 라이브러리</a:t>
            </a:r>
            <a:r>
              <a:rPr lang="en-US" altLang="ko-KR" dirty="0"/>
              <a:t>(win10toast </a:t>
            </a:r>
            <a:r>
              <a:rPr lang="ko-KR" altLang="en-US" dirty="0"/>
              <a:t>등</a:t>
            </a:r>
            <a:r>
              <a:rPr lang="en-US" altLang="ko-KR" dirty="0"/>
              <a:t>).</a:t>
            </a:r>
          </a:p>
          <a:p>
            <a:r>
              <a:rPr lang="ko-KR" altLang="en-US" b="1" dirty="0"/>
              <a:t>👍 장점</a:t>
            </a:r>
            <a:r>
              <a:rPr lang="en-US" altLang="ko-KR" b="1" dirty="0"/>
              <a:t>:</a:t>
            </a:r>
            <a:r>
              <a:rPr lang="ko-KR" altLang="en-US" dirty="0"/>
              <a:t> * 개발자</a:t>
            </a:r>
            <a:r>
              <a:rPr lang="en-US" altLang="ko-KR" dirty="0"/>
              <a:t>(</a:t>
            </a:r>
            <a:r>
              <a:rPr lang="ko-KR" altLang="en-US" dirty="0"/>
              <a:t>팀</a:t>
            </a:r>
            <a:r>
              <a:rPr lang="en-US" altLang="ko-KR" dirty="0"/>
              <a:t>)</a:t>
            </a:r>
            <a:r>
              <a:rPr lang="ko-KR" altLang="en-US" dirty="0"/>
              <a:t>가 부담해야 할 서버 유지비와 </a:t>
            </a:r>
            <a:r>
              <a:rPr lang="en-US" altLang="ko-KR" dirty="0"/>
              <a:t>API </a:t>
            </a:r>
            <a:r>
              <a:rPr lang="ko-KR" altLang="en-US" dirty="0"/>
              <a:t>비용이 </a:t>
            </a:r>
            <a:r>
              <a:rPr lang="ko-KR" altLang="en-US" b="1" dirty="0"/>
              <a:t>완벽하게 </a:t>
            </a:r>
            <a:r>
              <a:rPr lang="en-US" altLang="ko-KR" b="1" dirty="0"/>
              <a:t>0</a:t>
            </a:r>
            <a:r>
              <a:rPr lang="ko-KR" altLang="en-US" b="1" dirty="0"/>
              <a:t>원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사용자가 </a:t>
            </a:r>
            <a:r>
              <a:rPr lang="en-US" altLang="ko-KR" dirty="0"/>
              <a:t>1</a:t>
            </a:r>
            <a:r>
              <a:rPr lang="ko-KR" altLang="en-US" dirty="0"/>
              <a:t>만 명이 되든 </a:t>
            </a:r>
            <a:r>
              <a:rPr lang="en-US" altLang="ko-KR" dirty="0"/>
              <a:t>100</a:t>
            </a:r>
            <a:r>
              <a:rPr lang="ko-KR" altLang="en-US" dirty="0"/>
              <a:t>만 명이 되든 중앙 서버가 없으니 트래픽 터질 일이 없음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개인의 뉴스 소비 성향 데이터가 외부 서버로 절대 나가지 않는 강력한 프라이버시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⚠️ 단점 </a:t>
            </a:r>
            <a:r>
              <a:rPr lang="en-US" altLang="ko-KR" b="1" dirty="0"/>
              <a:t>(</a:t>
            </a:r>
            <a:r>
              <a:rPr lang="ko-KR" altLang="en-US" b="1" dirty="0"/>
              <a:t>도전 과제</a:t>
            </a:r>
            <a:r>
              <a:rPr lang="en-US" altLang="ko-KR" b="1" dirty="0"/>
              <a:t>):</a:t>
            </a:r>
            <a:r>
              <a:rPr lang="ko-KR" altLang="en-US" dirty="0"/>
              <a:t> * 사용자가 프로그램을 설치하고 직접 구글 플랫폼에서 </a:t>
            </a:r>
            <a:r>
              <a:rPr lang="en-US" altLang="ko-KR" dirty="0"/>
              <a:t>API </a:t>
            </a:r>
            <a:r>
              <a:rPr lang="ko-KR" altLang="en-US" dirty="0"/>
              <a:t>키를 발급받아 입력해야 하는 초기 진입 장벽 존재 </a:t>
            </a:r>
            <a:r>
              <a:rPr lang="en-US" altLang="ko-KR" dirty="0"/>
              <a:t>(</a:t>
            </a:r>
            <a:r>
              <a:rPr lang="ko-KR" altLang="en-US" dirty="0"/>
              <a:t>개발자나 </a:t>
            </a:r>
            <a:r>
              <a:rPr lang="en-US" altLang="ko-KR" dirty="0"/>
              <a:t>IT </a:t>
            </a:r>
            <a:r>
              <a:rPr lang="ko-KR" altLang="en-US" dirty="0" err="1"/>
              <a:t>관심층</a:t>
            </a:r>
            <a:r>
              <a:rPr lang="ko-KR" altLang="en-US" dirty="0"/>
              <a:t> 타겟팅에 적합</a:t>
            </a:r>
            <a:r>
              <a:rPr lang="en-US" altLang="ko-KR" dirty="0"/>
              <a:t>).</a:t>
            </a:r>
          </a:p>
          <a:p>
            <a:pPr lvl="1"/>
            <a:r>
              <a:rPr lang="ko-KR" altLang="en-US" dirty="0"/>
              <a:t>알림을 받으려면 </a:t>
            </a:r>
            <a:r>
              <a:rPr lang="en-US" altLang="ko-KR" dirty="0"/>
              <a:t>PC</a:t>
            </a:r>
            <a:r>
              <a:rPr lang="ko-KR" altLang="en-US" dirty="0"/>
              <a:t>가 켜져 있고 인터넷에 연결되어 있어야 함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16586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51D3A-6A79-BBB6-99DA-E44C1C439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CA677B-B7EE-AAF5-AAF5-8CC465B43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65E1BF-FDB2-D599-6C94-B49E48096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/>
              <a:t>제목</a:t>
            </a:r>
            <a:r>
              <a:rPr lang="en-US" altLang="ko-KR" b="1"/>
              <a:t>: </a:t>
            </a:r>
            <a:r>
              <a:rPr lang="ko-KR" altLang="en-US" b="1"/>
              <a:t>오늘의 뉴스 </a:t>
            </a:r>
            <a:r>
              <a:rPr lang="en-US" altLang="ko-KR" b="1"/>
              <a:t>- AI </a:t>
            </a:r>
            <a:r>
              <a:rPr lang="ko-KR" altLang="en-US" b="1"/>
              <a:t>맞춤형 무부하 푸시 알림 서비스</a:t>
            </a:r>
            <a:endParaRPr lang="ko-KR" altLang="en-US"/>
          </a:p>
          <a:p>
            <a:r>
              <a:rPr lang="ko-KR" altLang="en-US" b="1"/>
              <a:t>핵심 컨셉</a:t>
            </a:r>
            <a:r>
              <a:rPr lang="en-US" altLang="ko-KR" b="1"/>
              <a:t>:</a:t>
            </a:r>
            <a:r>
              <a:rPr lang="ko-KR" altLang="en-US"/>
              <a:t> 사용자가 원하는 주제의 핫한 뉴스를 </a:t>
            </a:r>
            <a:r>
              <a:rPr lang="en-US" altLang="ko-KR"/>
              <a:t>AI</a:t>
            </a:r>
            <a:r>
              <a:rPr lang="ko-KR" altLang="en-US"/>
              <a:t>가 한 줄로 요약해</a:t>
            </a:r>
            <a:r>
              <a:rPr lang="en-US" altLang="ko-KR"/>
              <a:t>, </a:t>
            </a:r>
            <a:r>
              <a:rPr lang="ko-KR" altLang="en-US"/>
              <a:t>원하는 시간에 </a:t>
            </a:r>
            <a:r>
              <a:rPr lang="en-US" altLang="ko-KR"/>
              <a:t>PC/</a:t>
            </a:r>
            <a:r>
              <a:rPr lang="ko-KR" altLang="en-US"/>
              <a:t>모바일 알림으로 배달하는 맞춤형 비서</a:t>
            </a:r>
            <a:r>
              <a:rPr lang="en-US" altLang="ko-KR"/>
              <a:t>.</a:t>
            </a:r>
          </a:p>
          <a:p>
            <a:r>
              <a:rPr lang="ko-KR" altLang="en-US" b="1"/>
              <a:t>개발 목표</a:t>
            </a:r>
            <a:r>
              <a:rPr lang="en-US" altLang="ko-KR" b="1"/>
              <a:t>:</a:t>
            </a:r>
            <a:r>
              <a:rPr lang="ko-KR" altLang="en-US"/>
              <a:t> 트래픽 과부하와 서버 유지비용을 최소화하는 완벽한 </a:t>
            </a:r>
            <a:r>
              <a:rPr lang="en-US" altLang="ko-KR"/>
              <a:t>'</a:t>
            </a:r>
            <a:r>
              <a:rPr lang="ko-KR" altLang="en-US"/>
              <a:t>클라이언트</a:t>
            </a:r>
            <a:r>
              <a:rPr lang="en-US" altLang="ko-KR"/>
              <a:t>-</a:t>
            </a:r>
            <a:r>
              <a:rPr lang="ko-KR" altLang="en-US"/>
              <a:t>서버 역할 분담</a:t>
            </a:r>
            <a:r>
              <a:rPr lang="en-US" altLang="ko-KR"/>
              <a:t>(Stateless)' </a:t>
            </a:r>
            <a:r>
              <a:rPr lang="ko-KR" altLang="en-US"/>
              <a:t>아키텍처 구현</a:t>
            </a:r>
            <a:r>
              <a:rPr lang="en-US" altLang="ko-KR"/>
              <a:t>.</a:t>
            </a:r>
          </a:p>
          <a:p>
            <a:r>
              <a:rPr lang="ko-KR" altLang="en-US" b="1"/>
              <a:t>주요 타겟</a:t>
            </a:r>
            <a:r>
              <a:rPr lang="en-US" altLang="ko-KR" b="1"/>
              <a:t>:</a:t>
            </a:r>
            <a:r>
              <a:rPr lang="ko-KR" altLang="en-US"/>
              <a:t> 포털 사이트에 접속해 뉴스를 고를 시간조차 부족한 현대인</a:t>
            </a:r>
            <a:r>
              <a:rPr lang="en-US" altLang="ko-KR"/>
              <a:t>, </a:t>
            </a:r>
            <a:r>
              <a:rPr lang="ko-KR" altLang="en-US"/>
              <a:t>특정 분야의 트렌드를 놓치고 싶지 않은 직장인</a:t>
            </a:r>
            <a:r>
              <a:rPr lang="en-US" altLang="ko-KR"/>
              <a:t>/</a:t>
            </a:r>
            <a:r>
              <a:rPr lang="ko-KR" altLang="en-US"/>
              <a:t>학생</a:t>
            </a:r>
            <a:r>
              <a:rPr lang="en-US" altLang="ko-K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97703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79AC26-3668-5990-4C25-DB0FC8A9E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3759BC-A011-E9F5-5214-E0E4E0D15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b="1" dirty="0"/>
              <a:t>[</a:t>
            </a:r>
            <a:r>
              <a:rPr lang="ko-KR" altLang="en-US" b="1" dirty="0"/>
              <a:t>슬라이드 </a:t>
            </a:r>
            <a:r>
              <a:rPr lang="en-US" altLang="ko-KR" b="1" dirty="0"/>
              <a:t>2: </a:t>
            </a:r>
            <a:r>
              <a:rPr lang="ko-KR" altLang="en-US" b="1" dirty="0" err="1"/>
              <a:t>백엔드</a:t>
            </a:r>
            <a:r>
              <a:rPr lang="ko-KR" altLang="en-US" b="1" dirty="0"/>
              <a:t> </a:t>
            </a:r>
            <a:r>
              <a:rPr lang="en-US" altLang="ko-KR" b="1" dirty="0"/>
              <a:t>(</a:t>
            </a:r>
            <a:r>
              <a:rPr lang="ko-KR" altLang="en-US" b="1" dirty="0"/>
              <a:t>서버</a:t>
            </a:r>
            <a:r>
              <a:rPr lang="en-US" altLang="ko-KR" b="1" dirty="0"/>
              <a:t>) </a:t>
            </a:r>
            <a:r>
              <a:rPr lang="ko-KR" altLang="en-US" b="1" dirty="0"/>
              <a:t>작동 사이클 </a:t>
            </a:r>
            <a:r>
              <a:rPr lang="en-US" altLang="ko-KR" b="1" dirty="0"/>
              <a:t>- </a:t>
            </a:r>
            <a:r>
              <a:rPr lang="ko-KR" altLang="en-US" b="1" dirty="0"/>
              <a:t>수집과 가공</a:t>
            </a:r>
            <a:r>
              <a:rPr lang="en-US" altLang="ko-KR" b="1" dirty="0"/>
              <a:t>]</a:t>
            </a:r>
            <a:r>
              <a:rPr lang="ko-KR" altLang="en-US" dirty="0"/>
              <a:t> </a:t>
            </a:r>
            <a:r>
              <a:rPr lang="en-US" altLang="ko-KR" b="1" dirty="0"/>
              <a:t>"</a:t>
            </a:r>
            <a:r>
              <a:rPr lang="ko-KR" altLang="en-US" b="1" dirty="0"/>
              <a:t>서버는 </a:t>
            </a:r>
            <a:r>
              <a:rPr lang="en-US" altLang="ko-KR" b="1" dirty="0"/>
              <a:t>24</a:t>
            </a:r>
            <a:r>
              <a:rPr lang="ko-KR" altLang="en-US" b="1" dirty="0"/>
              <a:t>시간 쉬지 않고 요리만 준비합니다</a:t>
            </a:r>
            <a:r>
              <a:rPr lang="en-US" altLang="ko-KR" b="1" dirty="0"/>
              <a:t>."</a:t>
            </a:r>
            <a:endParaRPr lang="ko-KR" altLang="en-US" dirty="0"/>
          </a:p>
          <a:p>
            <a:r>
              <a:rPr lang="en-US" altLang="ko-KR" b="1" dirty="0"/>
              <a:t>1</a:t>
            </a:r>
            <a:r>
              <a:rPr lang="ko-KR" altLang="en-US" b="1" dirty="0"/>
              <a:t>단계 </a:t>
            </a:r>
            <a:r>
              <a:rPr lang="en-US" altLang="ko-KR" b="1" dirty="0"/>
              <a:t>(5</a:t>
            </a:r>
            <a:r>
              <a:rPr lang="ko-KR" altLang="en-US" b="1" dirty="0"/>
              <a:t>분 주기 </a:t>
            </a:r>
            <a:r>
              <a:rPr lang="en-US" altLang="ko-KR" b="1" dirty="0"/>
              <a:t>- </a:t>
            </a:r>
            <a:r>
              <a:rPr lang="ko-KR" altLang="en-US" b="1" dirty="0"/>
              <a:t>무한 </a:t>
            </a:r>
            <a:r>
              <a:rPr lang="ko-KR" altLang="en-US" b="1" dirty="0" err="1"/>
              <a:t>크롤링</a:t>
            </a:r>
            <a:r>
              <a:rPr lang="en-US" altLang="ko-KR" b="1" dirty="0"/>
              <a:t>):</a:t>
            </a:r>
            <a:r>
              <a:rPr lang="ko-KR" altLang="en-US" dirty="0"/>
              <a:t> 특정 주제에 편향되지 않고</a:t>
            </a:r>
            <a:r>
              <a:rPr lang="en-US" altLang="ko-KR" dirty="0"/>
              <a:t>, IT, </a:t>
            </a:r>
            <a:r>
              <a:rPr lang="ko-KR" altLang="en-US" dirty="0"/>
              <a:t>경제</a:t>
            </a:r>
            <a:r>
              <a:rPr lang="en-US" altLang="ko-KR" dirty="0"/>
              <a:t>, </a:t>
            </a:r>
            <a:r>
              <a:rPr lang="ko-KR" altLang="en-US" dirty="0"/>
              <a:t>사회 등 모든 카테고리의 최신 뉴스를 긁어와 중앙 </a:t>
            </a:r>
            <a:r>
              <a:rPr lang="en-US" altLang="ko-KR" dirty="0"/>
              <a:t>DB</a:t>
            </a:r>
            <a:r>
              <a:rPr lang="ko-KR" altLang="en-US" dirty="0"/>
              <a:t>에 저장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2</a:t>
            </a:r>
            <a:r>
              <a:rPr lang="ko-KR" altLang="en-US" b="1" dirty="0"/>
              <a:t>단계 </a:t>
            </a:r>
            <a:r>
              <a:rPr lang="en-US" altLang="ko-KR" b="1" dirty="0"/>
              <a:t>(10</a:t>
            </a:r>
            <a:r>
              <a:rPr lang="ko-KR" altLang="en-US" b="1" dirty="0"/>
              <a:t>분 주기 </a:t>
            </a:r>
            <a:r>
              <a:rPr lang="en-US" altLang="ko-KR" b="1" dirty="0"/>
              <a:t>- AI </a:t>
            </a:r>
            <a:r>
              <a:rPr lang="ko-KR" altLang="en-US" b="1" dirty="0"/>
              <a:t>요약</a:t>
            </a:r>
            <a:r>
              <a:rPr lang="en-US" altLang="ko-KR" b="1" dirty="0"/>
              <a:t>):</a:t>
            </a:r>
            <a:r>
              <a:rPr lang="ko-KR" altLang="en-US" dirty="0"/>
              <a:t> 수집된 기사 중 빈칸인 데이터를 찾아 구글 </a:t>
            </a:r>
            <a:r>
              <a:rPr lang="en-US" altLang="ko-KR" dirty="0"/>
              <a:t>Gemini API</a:t>
            </a:r>
            <a:r>
              <a:rPr lang="ko-KR" altLang="en-US" dirty="0"/>
              <a:t>로 전송</a:t>
            </a:r>
            <a:r>
              <a:rPr lang="en-US" altLang="ko-KR" dirty="0"/>
              <a:t>, '</a:t>
            </a:r>
            <a:r>
              <a:rPr lang="ko-KR" altLang="en-US" dirty="0"/>
              <a:t>핵심 </a:t>
            </a:r>
            <a:r>
              <a:rPr lang="en-US" altLang="ko-KR" dirty="0"/>
              <a:t>1</a:t>
            </a:r>
            <a:r>
              <a:rPr lang="ko-KR" altLang="en-US" dirty="0"/>
              <a:t>줄 요약</a:t>
            </a:r>
            <a:r>
              <a:rPr lang="en-US" altLang="ko-KR" dirty="0"/>
              <a:t>' </a:t>
            </a:r>
            <a:r>
              <a:rPr lang="ko-KR" altLang="en-US" dirty="0"/>
              <a:t>텍스트를 생성하여 </a:t>
            </a:r>
            <a:r>
              <a:rPr lang="en-US" altLang="ko-KR" dirty="0"/>
              <a:t>DB </a:t>
            </a:r>
            <a:r>
              <a:rPr lang="ko-KR" altLang="en-US" dirty="0"/>
              <a:t>업데이트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3</a:t>
            </a:r>
            <a:r>
              <a:rPr lang="ko-KR" altLang="en-US" b="1" dirty="0"/>
              <a:t>단계 </a:t>
            </a:r>
            <a:r>
              <a:rPr lang="en-US" altLang="ko-KR" b="1" dirty="0"/>
              <a:t>(</a:t>
            </a:r>
            <a:r>
              <a:rPr lang="ko-KR" altLang="en-US" b="1" dirty="0"/>
              <a:t>매일 새벽 </a:t>
            </a:r>
            <a:r>
              <a:rPr lang="en-US" altLang="ko-KR" b="1" dirty="0"/>
              <a:t>- </a:t>
            </a:r>
            <a:r>
              <a:rPr lang="ko-KR" altLang="en-US" b="1" dirty="0"/>
              <a:t>데이터 청소</a:t>
            </a:r>
            <a:r>
              <a:rPr lang="en-US" altLang="ko-KR" b="1" dirty="0"/>
              <a:t>):</a:t>
            </a:r>
            <a:r>
              <a:rPr lang="ko-KR" altLang="en-US" dirty="0"/>
              <a:t> </a:t>
            </a:r>
            <a:r>
              <a:rPr lang="en-US" altLang="ko-KR" dirty="0"/>
              <a:t>'</a:t>
            </a:r>
            <a:r>
              <a:rPr lang="ko-KR" altLang="en-US" dirty="0"/>
              <a:t>당일 </a:t>
            </a:r>
            <a:r>
              <a:rPr lang="ko-KR" altLang="en-US" dirty="0" err="1"/>
              <a:t>핫한</a:t>
            </a:r>
            <a:r>
              <a:rPr lang="ko-KR" altLang="en-US" dirty="0"/>
              <a:t> 뉴스</a:t>
            </a:r>
            <a:r>
              <a:rPr lang="en-US" altLang="ko-KR" dirty="0"/>
              <a:t>'</a:t>
            </a:r>
            <a:r>
              <a:rPr lang="ko-KR" altLang="en-US" dirty="0"/>
              <a:t>라는 서비스 본질에 맞춰</a:t>
            </a:r>
            <a:r>
              <a:rPr lang="en-US" altLang="ko-KR" dirty="0"/>
              <a:t>, 24</a:t>
            </a:r>
            <a:r>
              <a:rPr lang="ko-KR" altLang="en-US" dirty="0"/>
              <a:t>시간이 지난 과거 뉴스 데이터는 </a:t>
            </a:r>
            <a:r>
              <a:rPr lang="en-US" altLang="ko-KR" dirty="0"/>
              <a:t>DB</a:t>
            </a:r>
            <a:r>
              <a:rPr lang="ko-KR" altLang="en-US" dirty="0"/>
              <a:t>에서 영구 삭제하여 서버 용량 압박 제로화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8827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3356B-2579-0F9F-55BF-AA216FA16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135EDC-E04B-298B-5783-C77B5E6AE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A67E89-075A-264C-A0AE-FBDC7FF3C6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b="1" dirty="0"/>
              <a:t>[</a:t>
            </a:r>
            <a:r>
              <a:rPr lang="ko-KR" altLang="en-US" b="1" dirty="0"/>
              <a:t>슬라이드 </a:t>
            </a:r>
            <a:r>
              <a:rPr lang="en-US" altLang="ko-KR" b="1" dirty="0"/>
              <a:t>3: </a:t>
            </a:r>
            <a:r>
              <a:rPr lang="ko-KR" altLang="en-US" b="1" dirty="0" err="1"/>
              <a:t>프론트엔드</a:t>
            </a:r>
            <a:r>
              <a:rPr lang="ko-KR" altLang="en-US" b="1" dirty="0"/>
              <a:t> </a:t>
            </a:r>
            <a:r>
              <a:rPr lang="en-US" altLang="ko-KR" b="1" dirty="0"/>
              <a:t>(</a:t>
            </a:r>
            <a:r>
              <a:rPr lang="ko-KR" altLang="en-US" b="1" dirty="0"/>
              <a:t>사용자 기기</a:t>
            </a:r>
            <a:r>
              <a:rPr lang="en-US" altLang="ko-KR" b="1" dirty="0"/>
              <a:t>) </a:t>
            </a:r>
            <a:r>
              <a:rPr lang="ko-KR" altLang="en-US" b="1" dirty="0"/>
              <a:t>작동 사이클 </a:t>
            </a:r>
            <a:r>
              <a:rPr lang="en-US" altLang="ko-KR" b="1" dirty="0"/>
              <a:t>- </a:t>
            </a:r>
            <a:r>
              <a:rPr lang="ko-KR" altLang="en-US" b="1" dirty="0"/>
              <a:t>요청과 수신</a:t>
            </a:r>
            <a:r>
              <a:rPr lang="en-US" altLang="ko-KR" b="1" dirty="0"/>
              <a:t>]</a:t>
            </a:r>
            <a:r>
              <a:rPr lang="ko-KR" altLang="en-US" dirty="0"/>
              <a:t> </a:t>
            </a:r>
            <a:r>
              <a:rPr lang="en-US" altLang="ko-KR" b="1" dirty="0"/>
              <a:t>"</a:t>
            </a:r>
            <a:r>
              <a:rPr lang="ko-KR" altLang="en-US" b="1" dirty="0"/>
              <a:t>기억은 사용자가 직접 하고</a:t>
            </a:r>
            <a:r>
              <a:rPr lang="en-US" altLang="ko-KR" b="1" dirty="0"/>
              <a:t>, </a:t>
            </a:r>
            <a:r>
              <a:rPr lang="ko-KR" altLang="en-US" b="1" dirty="0"/>
              <a:t>필요한 것만 서버에 주문합니다</a:t>
            </a:r>
            <a:r>
              <a:rPr lang="en-US" altLang="ko-KR" b="1" dirty="0"/>
              <a:t>."</a:t>
            </a:r>
            <a:endParaRPr lang="ko-KR" altLang="en-US" dirty="0"/>
          </a:p>
          <a:p>
            <a:r>
              <a:rPr lang="en-US" altLang="ko-KR" b="1" dirty="0"/>
              <a:t>1</a:t>
            </a:r>
            <a:r>
              <a:rPr lang="ko-KR" altLang="en-US" b="1" dirty="0"/>
              <a:t>단계 </a:t>
            </a:r>
            <a:r>
              <a:rPr lang="en-US" altLang="ko-KR" b="1" dirty="0"/>
              <a:t>(</a:t>
            </a:r>
            <a:r>
              <a:rPr lang="ko-KR" altLang="en-US" b="1" dirty="0"/>
              <a:t>초기 설정</a:t>
            </a:r>
            <a:r>
              <a:rPr lang="en-US" altLang="ko-KR" b="1" dirty="0"/>
              <a:t>):</a:t>
            </a:r>
            <a:r>
              <a:rPr lang="ko-KR" altLang="en-US" dirty="0"/>
              <a:t> 사용자는 웹페이지에서 </a:t>
            </a:r>
            <a:r>
              <a:rPr lang="en-US" altLang="ko-KR" dirty="0"/>
              <a:t>'</a:t>
            </a:r>
            <a:r>
              <a:rPr lang="ko-KR" altLang="en-US" dirty="0"/>
              <a:t>관심 주제</a:t>
            </a:r>
            <a:r>
              <a:rPr lang="en-US" altLang="ko-KR" dirty="0"/>
              <a:t>'</a:t>
            </a:r>
            <a:r>
              <a:rPr lang="ko-KR" altLang="en-US" dirty="0"/>
              <a:t>와 </a:t>
            </a:r>
            <a:r>
              <a:rPr lang="en-US" altLang="ko-KR" dirty="0"/>
              <a:t>'</a:t>
            </a:r>
            <a:r>
              <a:rPr lang="ko-KR" altLang="en-US" dirty="0"/>
              <a:t>알림 수신 주기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1</a:t>
            </a:r>
            <a:r>
              <a:rPr lang="ko-KR" altLang="en-US" dirty="0"/>
              <a:t>시간</a:t>
            </a:r>
            <a:r>
              <a:rPr lang="en-US" altLang="ko-KR" dirty="0"/>
              <a:t>)'</a:t>
            </a:r>
            <a:r>
              <a:rPr lang="ko-KR" altLang="en-US" dirty="0"/>
              <a:t>를 설정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2</a:t>
            </a:r>
            <a:r>
              <a:rPr lang="ko-KR" altLang="en-US" b="1" dirty="0"/>
              <a:t>단계 </a:t>
            </a:r>
            <a:r>
              <a:rPr lang="en-US" altLang="ko-KR" b="1" dirty="0"/>
              <a:t>(</a:t>
            </a:r>
            <a:r>
              <a:rPr lang="ko-KR" altLang="en-US" b="1" dirty="0"/>
              <a:t>스마트 요청</a:t>
            </a:r>
            <a:r>
              <a:rPr lang="en-US" altLang="ko-KR" b="1" dirty="0"/>
              <a:t>):</a:t>
            </a:r>
            <a:r>
              <a:rPr lang="ko-KR" altLang="en-US" dirty="0"/>
              <a:t> 정해진 시간이 되면</a:t>
            </a:r>
            <a:r>
              <a:rPr lang="en-US" altLang="ko-KR" dirty="0"/>
              <a:t>, </a:t>
            </a:r>
            <a:r>
              <a:rPr lang="ko-KR" altLang="en-US" dirty="0"/>
              <a:t>사용자 기기가 서버에 데이터 요청 패키지 발송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i="1" dirty="0"/>
              <a:t>요청 데이터</a:t>
            </a:r>
            <a:r>
              <a:rPr lang="en-US" altLang="ko-KR" i="1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"</a:t>
            </a:r>
            <a:r>
              <a:rPr lang="ko-KR" altLang="en-US" dirty="0"/>
              <a:t>내 관심 주제</a:t>
            </a:r>
            <a:r>
              <a:rPr lang="en-US" altLang="ko-KR" dirty="0"/>
              <a:t>(IT, </a:t>
            </a:r>
            <a:r>
              <a:rPr lang="ko-KR" altLang="en-US" dirty="0"/>
              <a:t>경제</a:t>
            </a:r>
            <a:r>
              <a:rPr lang="en-US" altLang="ko-KR" dirty="0"/>
              <a:t>) + </a:t>
            </a:r>
            <a:r>
              <a:rPr lang="ko-KR" altLang="en-US" dirty="0"/>
              <a:t>내가 이미 읽은 뉴스 </a:t>
            </a:r>
            <a:r>
              <a:rPr lang="en-US" altLang="ko-KR" dirty="0"/>
              <a:t>ID </a:t>
            </a:r>
            <a:r>
              <a:rPr lang="ko-KR" altLang="en-US" dirty="0"/>
              <a:t>목록</a:t>
            </a:r>
            <a:r>
              <a:rPr lang="en-US" altLang="ko-KR" dirty="0"/>
              <a:t>"</a:t>
            </a:r>
          </a:p>
          <a:p>
            <a:r>
              <a:rPr lang="en-US" altLang="ko-KR" b="1" dirty="0"/>
              <a:t>3</a:t>
            </a:r>
            <a:r>
              <a:rPr lang="ko-KR" altLang="en-US" b="1" dirty="0"/>
              <a:t>단계 </a:t>
            </a:r>
            <a:r>
              <a:rPr lang="en-US" altLang="ko-KR" b="1" dirty="0"/>
              <a:t>(</a:t>
            </a:r>
            <a:r>
              <a:rPr lang="ko-KR" altLang="en-US" b="1" dirty="0"/>
              <a:t>알림 팝업</a:t>
            </a:r>
            <a:r>
              <a:rPr lang="en-US" altLang="ko-KR" b="1" dirty="0"/>
              <a:t>):</a:t>
            </a:r>
            <a:r>
              <a:rPr lang="ko-KR" altLang="en-US" dirty="0"/>
              <a:t> 서버로부터 방금 막 도착한 신선한 뉴스 </a:t>
            </a:r>
            <a:r>
              <a:rPr lang="en-US" altLang="ko-KR" dirty="0"/>
              <a:t>10</a:t>
            </a:r>
            <a:r>
              <a:rPr lang="ko-KR" altLang="en-US" dirty="0"/>
              <a:t>개를 전달받아 화면에 푸시 알림</a:t>
            </a:r>
            <a:r>
              <a:rPr lang="en-US" altLang="ko-KR" dirty="0"/>
              <a:t>(Notification)</a:t>
            </a:r>
            <a:r>
              <a:rPr lang="ko-KR" altLang="en-US" dirty="0"/>
              <a:t>으로 표출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4</a:t>
            </a:r>
            <a:r>
              <a:rPr lang="ko-KR" altLang="en-US" b="1" dirty="0"/>
              <a:t>단계 </a:t>
            </a:r>
            <a:r>
              <a:rPr lang="en-US" altLang="ko-KR" b="1" dirty="0"/>
              <a:t>(</a:t>
            </a:r>
            <a:r>
              <a:rPr lang="ko-KR" altLang="en-US" b="1" dirty="0"/>
              <a:t>기억 갱신</a:t>
            </a:r>
            <a:r>
              <a:rPr lang="en-US" altLang="ko-KR" b="1" dirty="0"/>
              <a:t>):</a:t>
            </a:r>
            <a:r>
              <a:rPr lang="ko-KR" altLang="en-US" dirty="0"/>
              <a:t> 방금 받은 </a:t>
            </a:r>
            <a:r>
              <a:rPr lang="en-US" altLang="ko-KR" dirty="0"/>
              <a:t>10</a:t>
            </a:r>
            <a:r>
              <a:rPr lang="ko-KR" altLang="en-US" dirty="0"/>
              <a:t>개의 뉴스 </a:t>
            </a:r>
            <a:r>
              <a:rPr lang="en-US" altLang="ko-KR" dirty="0"/>
              <a:t>ID</a:t>
            </a:r>
            <a:r>
              <a:rPr lang="ko-KR" altLang="en-US" dirty="0"/>
              <a:t>를 사용자 </a:t>
            </a:r>
            <a:r>
              <a:rPr lang="en-US" altLang="ko-KR" dirty="0"/>
              <a:t>PC(</a:t>
            </a:r>
            <a:r>
              <a:rPr lang="ko-KR" altLang="en-US" dirty="0"/>
              <a:t>로컬 스토리지</a:t>
            </a:r>
            <a:r>
              <a:rPr lang="en-US" altLang="ko-KR" dirty="0"/>
              <a:t>)</a:t>
            </a:r>
            <a:r>
              <a:rPr lang="ko-KR" altLang="en-US" dirty="0"/>
              <a:t>에 추가로 저장하여 다음 턴의 중복 수신 완벽 차단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79368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C10B5-20B3-E516-62EF-E6A7C40DB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E9776-4227-0FE3-F7F1-370362699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6CBC67-2FED-6DF2-5674-4F4A9B271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b="1" dirty="0"/>
              <a:t>[</a:t>
            </a:r>
            <a:r>
              <a:rPr lang="ko-KR" altLang="en-US" b="1" dirty="0"/>
              <a:t>슬라이드 </a:t>
            </a:r>
            <a:r>
              <a:rPr lang="en-US" altLang="ko-KR" b="1" dirty="0"/>
              <a:t>4: </a:t>
            </a:r>
            <a:r>
              <a:rPr lang="ko-KR" altLang="en-US" b="1" dirty="0"/>
              <a:t>핵심 큐레이션 알고리즘 </a:t>
            </a:r>
            <a:r>
              <a:rPr lang="en-US" altLang="ko-KR" b="1" dirty="0"/>
              <a:t>- </a:t>
            </a:r>
            <a:r>
              <a:rPr lang="ko-KR" altLang="en-US" b="1" dirty="0"/>
              <a:t>주제별 라운드 로빈</a:t>
            </a:r>
            <a:r>
              <a:rPr lang="en-US" altLang="ko-KR" b="1" dirty="0"/>
              <a:t>(Round-Robin)]</a:t>
            </a:r>
            <a:r>
              <a:rPr lang="ko-KR" altLang="en-US" dirty="0"/>
              <a:t> </a:t>
            </a:r>
            <a:r>
              <a:rPr lang="en-US" altLang="ko-KR" b="1" dirty="0"/>
              <a:t>"</a:t>
            </a:r>
            <a:r>
              <a:rPr lang="ko-KR" altLang="en-US" b="1" dirty="0"/>
              <a:t>한 주제에 편중되지 않는 완벽한 정보의 </a:t>
            </a:r>
            <a:r>
              <a:rPr lang="ko-KR" altLang="en-US" b="1" dirty="0" err="1"/>
              <a:t>밸런싱</a:t>
            </a:r>
            <a:r>
              <a:rPr lang="en-US" altLang="ko-KR" b="1" dirty="0"/>
              <a:t>"</a:t>
            </a:r>
            <a:endParaRPr lang="ko-KR" altLang="en-US" dirty="0"/>
          </a:p>
          <a:p>
            <a:r>
              <a:rPr lang="ko-KR" altLang="en-US" b="1" dirty="0"/>
              <a:t>문제점</a:t>
            </a:r>
            <a:r>
              <a:rPr lang="en-US" altLang="ko-KR" b="1" dirty="0"/>
              <a:t>:</a:t>
            </a:r>
            <a:r>
              <a:rPr lang="ko-KR" altLang="en-US" dirty="0"/>
              <a:t> 단순 조회수 순으로 나열할 경우</a:t>
            </a:r>
            <a:r>
              <a:rPr lang="en-US" altLang="ko-KR" dirty="0"/>
              <a:t>, </a:t>
            </a:r>
            <a:r>
              <a:rPr lang="ko-KR" altLang="en-US" dirty="0"/>
              <a:t>자극적인 특정 주제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연예</a:t>
            </a:r>
            <a:r>
              <a:rPr lang="en-US" altLang="ko-KR" dirty="0"/>
              <a:t>)</a:t>
            </a:r>
            <a:r>
              <a:rPr lang="ko-KR" altLang="en-US" dirty="0"/>
              <a:t>가 </a:t>
            </a:r>
            <a:r>
              <a:rPr lang="en-US" altLang="ko-KR" dirty="0"/>
              <a:t>10</a:t>
            </a:r>
            <a:r>
              <a:rPr lang="ko-KR" altLang="en-US" dirty="0"/>
              <a:t>개의 알림을 독식하는 현상 발생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해결책</a:t>
            </a:r>
            <a:r>
              <a:rPr lang="en-US" altLang="ko-KR" b="1" dirty="0"/>
              <a:t>:</a:t>
            </a:r>
            <a:r>
              <a:rPr lang="ko-KR" altLang="en-US" dirty="0"/>
              <a:t> 사용자가 선택한 주제별로 </a:t>
            </a:r>
            <a:r>
              <a:rPr lang="en-US" altLang="ko-KR" dirty="0"/>
              <a:t>1</a:t>
            </a:r>
            <a:r>
              <a:rPr lang="ko-KR" altLang="en-US" dirty="0"/>
              <a:t>등부터 순차적으로 교차 추출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i="1" dirty="0"/>
              <a:t>1</a:t>
            </a:r>
            <a:r>
              <a:rPr lang="ko-KR" altLang="en-US" i="1" dirty="0"/>
              <a:t>회전</a:t>
            </a:r>
            <a:r>
              <a:rPr lang="en-US" altLang="ko-KR" i="1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IT 1</a:t>
            </a:r>
            <a:r>
              <a:rPr lang="ko-KR" altLang="en-US" dirty="0"/>
              <a:t>등</a:t>
            </a:r>
            <a:r>
              <a:rPr lang="en-US" altLang="ko-KR" dirty="0"/>
              <a:t>, </a:t>
            </a:r>
            <a:r>
              <a:rPr lang="ko-KR" altLang="en-US" dirty="0"/>
              <a:t>경제 </a:t>
            </a:r>
            <a:r>
              <a:rPr lang="en-US" altLang="ko-KR" dirty="0"/>
              <a:t>1</a:t>
            </a:r>
            <a:r>
              <a:rPr lang="ko-KR" altLang="en-US" dirty="0"/>
              <a:t>등</a:t>
            </a:r>
            <a:r>
              <a:rPr lang="en-US" altLang="ko-KR" dirty="0"/>
              <a:t>, </a:t>
            </a:r>
            <a:r>
              <a:rPr lang="ko-KR" altLang="en-US" dirty="0"/>
              <a:t>사회 </a:t>
            </a:r>
            <a:r>
              <a:rPr lang="en-US" altLang="ko-KR" dirty="0"/>
              <a:t>1</a:t>
            </a:r>
            <a:r>
              <a:rPr lang="ko-KR" altLang="en-US" dirty="0"/>
              <a:t>등 추출 후 시간순 정렬</a:t>
            </a:r>
          </a:p>
          <a:p>
            <a:pPr lvl="1"/>
            <a:r>
              <a:rPr lang="en-US" altLang="ko-KR" i="1" dirty="0"/>
              <a:t>2</a:t>
            </a:r>
            <a:r>
              <a:rPr lang="ko-KR" altLang="en-US" i="1" dirty="0"/>
              <a:t>회전</a:t>
            </a:r>
            <a:r>
              <a:rPr lang="en-US" altLang="ko-KR" i="1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IT 2</a:t>
            </a:r>
            <a:r>
              <a:rPr lang="ko-KR" altLang="en-US" dirty="0"/>
              <a:t>등</a:t>
            </a:r>
            <a:r>
              <a:rPr lang="en-US" altLang="ko-KR" dirty="0"/>
              <a:t>, </a:t>
            </a:r>
            <a:r>
              <a:rPr lang="ko-KR" altLang="en-US" dirty="0"/>
              <a:t>경제 </a:t>
            </a:r>
            <a:r>
              <a:rPr lang="en-US" altLang="ko-KR" dirty="0"/>
              <a:t>2</a:t>
            </a:r>
            <a:r>
              <a:rPr lang="ko-KR" altLang="en-US" dirty="0"/>
              <a:t>등</a:t>
            </a:r>
            <a:r>
              <a:rPr lang="en-US" altLang="ko-KR" dirty="0"/>
              <a:t>, </a:t>
            </a:r>
            <a:r>
              <a:rPr lang="ko-KR" altLang="en-US" dirty="0"/>
              <a:t>사회 </a:t>
            </a:r>
            <a:r>
              <a:rPr lang="en-US" altLang="ko-KR" dirty="0"/>
              <a:t>2</a:t>
            </a:r>
            <a:r>
              <a:rPr lang="ko-KR" altLang="en-US" dirty="0"/>
              <a:t>등 추출 후 시간순 정렬</a:t>
            </a:r>
          </a:p>
          <a:p>
            <a:pPr lvl="1"/>
            <a:r>
              <a:rPr lang="ko-KR" altLang="en-US" i="1" dirty="0"/>
              <a:t>반복</a:t>
            </a:r>
            <a:r>
              <a:rPr lang="en-US" altLang="ko-KR" i="1" dirty="0"/>
              <a:t>:</a:t>
            </a:r>
            <a:r>
              <a:rPr lang="ko-KR" altLang="en-US" dirty="0"/>
              <a:t> 총 </a:t>
            </a:r>
            <a:r>
              <a:rPr lang="en-US" altLang="ko-KR" dirty="0"/>
              <a:t>10</a:t>
            </a:r>
            <a:r>
              <a:rPr lang="ko-KR" altLang="en-US" dirty="0"/>
              <a:t>개가 채워질 때까지 위 과정을 순환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기대 효과</a:t>
            </a:r>
            <a:r>
              <a:rPr lang="en-US" altLang="ko-KR" b="1" dirty="0"/>
              <a:t>:</a:t>
            </a:r>
            <a:r>
              <a:rPr lang="ko-KR" altLang="en-US" dirty="0"/>
              <a:t> 사용자는 알림을 위에서부터 읽어 내릴 때</a:t>
            </a:r>
            <a:r>
              <a:rPr lang="en-US" altLang="ko-KR" dirty="0"/>
              <a:t>, </a:t>
            </a:r>
            <a:r>
              <a:rPr lang="ko-KR" altLang="en-US" dirty="0"/>
              <a:t>본인이 선택한 모든 관심사의 가장 뜨거운 이슈를 골고루</a:t>
            </a:r>
            <a:r>
              <a:rPr lang="en-US" altLang="ko-KR" dirty="0"/>
              <a:t>, </a:t>
            </a:r>
            <a:r>
              <a:rPr lang="ko-KR" altLang="en-US" dirty="0"/>
              <a:t>자연스러운 흐름으로 소비 가능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82865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C2CA7-0912-1CE8-B3C3-164083305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0E0406-EA81-C61F-6727-0E156B3C5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30D5FF-C9FE-5710-1561-36BAA25B5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[</a:t>
            </a:r>
            <a:r>
              <a:rPr lang="ko-KR" altLang="en-US" b="1" dirty="0"/>
              <a:t>슬라이드 </a:t>
            </a:r>
            <a:r>
              <a:rPr lang="en-US" altLang="ko-KR" b="1" dirty="0"/>
              <a:t>5: </a:t>
            </a:r>
            <a:r>
              <a:rPr lang="ko-KR" altLang="en-US" b="1" dirty="0"/>
              <a:t>시스템 아키텍처의 기술적 </a:t>
            </a:r>
            <a:r>
              <a:rPr lang="ko-KR" altLang="en-US" b="1" dirty="0" err="1"/>
              <a:t>차별점</a:t>
            </a:r>
            <a:r>
              <a:rPr lang="en-US" altLang="ko-KR" b="1" dirty="0"/>
              <a:t>]</a:t>
            </a:r>
            <a:r>
              <a:rPr lang="ko-KR" altLang="en-US" dirty="0"/>
              <a:t> </a:t>
            </a:r>
            <a:r>
              <a:rPr lang="en-US" altLang="ko-KR" b="1" dirty="0"/>
              <a:t>"</a:t>
            </a:r>
            <a:r>
              <a:rPr lang="ko-KR" altLang="en-US" b="1" dirty="0"/>
              <a:t>왜 이 구조가 완벽한가</a:t>
            </a:r>
            <a:r>
              <a:rPr lang="en-US" altLang="ko-KR" b="1" dirty="0"/>
              <a:t>?"</a:t>
            </a:r>
            <a:endParaRPr lang="ko-KR" altLang="en-US" dirty="0"/>
          </a:p>
          <a:p>
            <a:r>
              <a:rPr lang="ko-KR" altLang="en-US" b="1" dirty="0"/>
              <a:t>서버 부하</a:t>
            </a:r>
            <a:r>
              <a:rPr lang="en-US" altLang="ko-KR" b="1" dirty="0"/>
              <a:t>(DB </a:t>
            </a:r>
            <a:r>
              <a:rPr lang="ko-KR" altLang="en-US" b="1" dirty="0"/>
              <a:t>쿼리</a:t>
            </a:r>
            <a:r>
              <a:rPr lang="en-US" altLang="ko-KR" b="1" dirty="0"/>
              <a:t>) </a:t>
            </a:r>
            <a:r>
              <a:rPr lang="ko-KR" altLang="en-US" b="1" dirty="0"/>
              <a:t>최소화</a:t>
            </a:r>
            <a:r>
              <a:rPr lang="en-US" altLang="ko-KR" b="1" dirty="0"/>
              <a:t>:</a:t>
            </a:r>
            <a:r>
              <a:rPr lang="ko-KR" altLang="en-US" dirty="0"/>
              <a:t> 서버가 수많은 사용자의 </a:t>
            </a:r>
            <a:r>
              <a:rPr lang="en-US" altLang="ko-KR" dirty="0"/>
              <a:t>'</a:t>
            </a:r>
            <a:r>
              <a:rPr lang="ko-KR" altLang="en-US" dirty="0"/>
              <a:t>열람 기록</a:t>
            </a:r>
            <a:r>
              <a:rPr lang="en-US" altLang="ko-KR" dirty="0"/>
              <a:t>'</a:t>
            </a:r>
            <a:r>
              <a:rPr lang="ko-KR" altLang="en-US" dirty="0"/>
              <a:t>을 일일이 기억하고 대조할 필요가 없음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완벽한 개인정보 보호</a:t>
            </a:r>
            <a:r>
              <a:rPr lang="en-US" altLang="ko-KR" b="1" dirty="0"/>
              <a:t>:</a:t>
            </a:r>
            <a:r>
              <a:rPr lang="ko-KR" altLang="en-US" dirty="0"/>
              <a:t> 개인이 어떤 뉴스를 클릭하고 읽었는지에 대한 민감한 로그가 중앙 서버에 일절 남지 않음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API </a:t>
            </a:r>
            <a:r>
              <a:rPr lang="ko-KR" altLang="en-US" b="1" dirty="0"/>
              <a:t>비용 방어</a:t>
            </a:r>
            <a:r>
              <a:rPr lang="en-US" altLang="ko-KR" b="1" dirty="0"/>
              <a:t>:</a:t>
            </a:r>
            <a:r>
              <a:rPr lang="ko-KR" altLang="en-US" dirty="0"/>
              <a:t> 중앙 서버 한 곳에서만 </a:t>
            </a:r>
            <a:r>
              <a:rPr lang="en-US" altLang="ko-KR" dirty="0"/>
              <a:t>Gemini API</a:t>
            </a:r>
            <a:r>
              <a:rPr lang="ko-KR" altLang="en-US" dirty="0"/>
              <a:t>를 호출하여 요약본을 공유하므로</a:t>
            </a:r>
            <a:r>
              <a:rPr lang="en-US" altLang="ko-KR" dirty="0"/>
              <a:t>, </a:t>
            </a:r>
            <a:r>
              <a:rPr lang="ko-KR" altLang="en-US" dirty="0"/>
              <a:t>개별 사용자가 직접 </a:t>
            </a:r>
            <a:r>
              <a:rPr lang="en-US" altLang="ko-KR" dirty="0"/>
              <a:t>API</a:t>
            </a:r>
            <a:r>
              <a:rPr lang="ko-KR" altLang="en-US" dirty="0"/>
              <a:t>를 호출할 때 발생하는 한도 초과</a:t>
            </a:r>
            <a:r>
              <a:rPr lang="en-US" altLang="ko-KR" dirty="0"/>
              <a:t>(Rate Limit) </a:t>
            </a:r>
            <a:r>
              <a:rPr lang="ko-KR" altLang="en-US" dirty="0"/>
              <a:t>문제 원천 차단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68106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F5901-D3CC-93EB-02CB-EC9E7E16C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35B889-2C6D-88F7-0844-D7947F0DD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2266E5-44A0-962D-8425-E21FEBD563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ko-KR" altLang="en-US" b="1" dirty="0"/>
              <a:t>카카오톡에 접속하듯</a:t>
            </a:r>
            <a:r>
              <a:rPr lang="en-US" altLang="ko-KR" b="1" dirty="0"/>
              <a:t>, </a:t>
            </a:r>
            <a:r>
              <a:rPr lang="ko-KR" altLang="en-US" b="1" dirty="0"/>
              <a:t>내 관심사가 기다리는 방으로 입장</a:t>
            </a:r>
            <a:r>
              <a:rPr lang="en-US" altLang="ko-KR" b="1" dirty="0"/>
              <a:t>"</a:t>
            </a:r>
            <a:endParaRPr lang="ko-KR" altLang="en-US" dirty="0"/>
          </a:p>
          <a:p>
            <a:r>
              <a:rPr lang="ko-KR" altLang="en-US" b="1" dirty="0"/>
              <a:t>메인 </a:t>
            </a:r>
            <a:r>
              <a:rPr lang="ko-KR" altLang="en-US" b="1" dirty="0" err="1"/>
              <a:t>피드</a:t>
            </a:r>
            <a:r>
              <a:rPr lang="ko-KR" altLang="en-US" b="1" dirty="0"/>
              <a:t> 컨셉</a:t>
            </a:r>
            <a:r>
              <a:rPr lang="en-US" altLang="ko-KR" b="1" dirty="0"/>
              <a:t>:</a:t>
            </a:r>
            <a:r>
              <a:rPr lang="ko-KR" altLang="en-US" dirty="0"/>
              <a:t> 친숙한 메신저</a:t>
            </a:r>
            <a:r>
              <a:rPr lang="en-US" altLang="ko-KR" dirty="0"/>
              <a:t>(</a:t>
            </a:r>
            <a:r>
              <a:rPr lang="ko-KR" altLang="en-US" dirty="0"/>
              <a:t>카카오톡</a:t>
            </a:r>
            <a:r>
              <a:rPr lang="en-US" altLang="ko-KR" dirty="0"/>
              <a:t>) </a:t>
            </a:r>
            <a:r>
              <a:rPr lang="ko-KR" altLang="en-US" dirty="0" err="1"/>
              <a:t>채팅방</a:t>
            </a:r>
            <a:r>
              <a:rPr lang="ko-KR" altLang="en-US" dirty="0"/>
              <a:t> </a:t>
            </a:r>
            <a:r>
              <a:rPr lang="en-US" altLang="ko-KR" dirty="0"/>
              <a:t>UI </a:t>
            </a:r>
            <a:r>
              <a:rPr lang="ko-KR" altLang="en-US" dirty="0"/>
              <a:t>벤치마킹</a:t>
            </a:r>
            <a:r>
              <a:rPr lang="en-US" altLang="ko-KR" dirty="0"/>
              <a:t>. </a:t>
            </a:r>
            <a:r>
              <a:rPr lang="ko-KR" altLang="en-US" dirty="0"/>
              <a:t>사용자가 선택한 관심 주제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IT, </a:t>
            </a:r>
            <a:r>
              <a:rPr lang="ko-KR" altLang="en-US" dirty="0"/>
              <a:t>경제</a:t>
            </a:r>
            <a:r>
              <a:rPr lang="en-US" altLang="ko-KR" dirty="0"/>
              <a:t>, </a:t>
            </a:r>
            <a:r>
              <a:rPr lang="ko-KR" altLang="en-US" dirty="0"/>
              <a:t>사회</a:t>
            </a:r>
            <a:r>
              <a:rPr lang="en-US" altLang="ko-KR" dirty="0"/>
              <a:t>)</a:t>
            </a:r>
            <a:r>
              <a:rPr lang="ko-KR" altLang="en-US" dirty="0"/>
              <a:t>가 각각 하나의 </a:t>
            </a:r>
            <a:r>
              <a:rPr lang="en-US" altLang="ko-KR" dirty="0"/>
              <a:t>'</a:t>
            </a:r>
            <a:r>
              <a:rPr lang="ko-KR" altLang="en-US" dirty="0" err="1"/>
              <a:t>채팅방</a:t>
            </a:r>
            <a:r>
              <a:rPr lang="en-US" altLang="ko-KR" dirty="0"/>
              <a:t>'</a:t>
            </a:r>
            <a:r>
              <a:rPr lang="ko-KR" altLang="en-US" dirty="0"/>
              <a:t>으로 생성됨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조용한 업데이트 </a:t>
            </a:r>
            <a:r>
              <a:rPr lang="en-US" altLang="ko-KR" b="1" dirty="0"/>
              <a:t>(Silent Update):</a:t>
            </a:r>
            <a:r>
              <a:rPr lang="ko-KR" altLang="en-US" dirty="0"/>
              <a:t> 개별 뉴스가 추가될 때마다 알림을 보내는 시끄러운 방식 배제</a:t>
            </a:r>
            <a:r>
              <a:rPr lang="en-US" altLang="ko-KR" dirty="0"/>
              <a:t>. </a:t>
            </a:r>
            <a:r>
              <a:rPr lang="ko-KR" altLang="en-US" dirty="0"/>
              <a:t>뉴스는 각 주제방에 조용히 쌓이며</a:t>
            </a:r>
            <a:r>
              <a:rPr lang="en-US" altLang="ko-KR" dirty="0"/>
              <a:t>, </a:t>
            </a:r>
            <a:r>
              <a:rPr lang="ko-KR" altLang="en-US" dirty="0"/>
              <a:t>푸시 알림은 오직 </a:t>
            </a:r>
            <a:r>
              <a:rPr lang="en-US" altLang="ko-KR" dirty="0"/>
              <a:t>'</a:t>
            </a:r>
            <a:r>
              <a:rPr lang="ko-KR" altLang="en-US" dirty="0"/>
              <a:t>정해진 시간의 믹스</a:t>
            </a:r>
            <a:r>
              <a:rPr lang="en-US" altLang="ko-KR" dirty="0"/>
              <a:t>(Round-Robin) </a:t>
            </a:r>
            <a:r>
              <a:rPr lang="ko-KR" altLang="en-US" dirty="0"/>
              <a:t>알림</a:t>
            </a:r>
            <a:r>
              <a:rPr lang="en-US" altLang="ko-KR" dirty="0"/>
              <a:t>'</a:t>
            </a:r>
            <a:r>
              <a:rPr lang="ko-KR" altLang="en-US" dirty="0"/>
              <a:t>과 </a:t>
            </a:r>
            <a:r>
              <a:rPr lang="en-US" altLang="ko-KR" dirty="0"/>
              <a:t>'</a:t>
            </a:r>
            <a:r>
              <a:rPr lang="ko-KR" altLang="en-US" dirty="0"/>
              <a:t>긴급 특보</a:t>
            </a:r>
            <a:r>
              <a:rPr lang="en-US" altLang="ko-KR" dirty="0"/>
              <a:t>'</a:t>
            </a:r>
            <a:r>
              <a:rPr lang="ko-KR" altLang="en-US" dirty="0"/>
              <a:t>에만 사용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주제별 </a:t>
            </a:r>
            <a:r>
              <a:rPr lang="ko-KR" altLang="en-US" b="1" dirty="0" err="1"/>
              <a:t>뎁스</a:t>
            </a:r>
            <a:r>
              <a:rPr lang="en-US" altLang="ko-KR" b="1" dirty="0"/>
              <a:t>(Depth) </a:t>
            </a:r>
            <a:r>
              <a:rPr lang="ko-KR" altLang="en-US" b="1" dirty="0"/>
              <a:t>구성</a:t>
            </a:r>
            <a:r>
              <a:rPr lang="en-US" altLang="ko-KR" b="1" dirty="0"/>
              <a:t>:</a:t>
            </a:r>
            <a:endParaRPr lang="ko-KR" altLang="en-US" dirty="0"/>
          </a:p>
          <a:p>
            <a:pPr lvl="1"/>
            <a:r>
              <a:rPr lang="ko-KR" altLang="en-US" i="1" dirty="0"/>
              <a:t>목록 화면</a:t>
            </a:r>
            <a:r>
              <a:rPr lang="en-US" altLang="ko-KR" i="1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"IT </a:t>
            </a:r>
            <a:r>
              <a:rPr lang="ko-KR" altLang="en-US" dirty="0"/>
              <a:t>방 </a:t>
            </a:r>
            <a:r>
              <a:rPr lang="en-US" altLang="ko-KR" dirty="0"/>
              <a:t>(</a:t>
            </a:r>
            <a:r>
              <a:rPr lang="ko-KR" altLang="en-US" dirty="0"/>
              <a:t>새로운 뉴스 </a:t>
            </a:r>
            <a:r>
              <a:rPr lang="en-US" altLang="ko-KR" dirty="0"/>
              <a:t>10</a:t>
            </a:r>
            <a:r>
              <a:rPr lang="ko-KR" altLang="en-US" dirty="0"/>
              <a:t>개</a:t>
            </a:r>
            <a:r>
              <a:rPr lang="en-US" altLang="ko-KR" dirty="0"/>
              <a:t>)", "</a:t>
            </a:r>
            <a:r>
              <a:rPr lang="ko-KR" altLang="en-US" dirty="0"/>
              <a:t>경제 방 </a:t>
            </a:r>
            <a:r>
              <a:rPr lang="en-US" altLang="ko-KR" dirty="0"/>
              <a:t>(</a:t>
            </a:r>
            <a:r>
              <a:rPr lang="ko-KR" altLang="en-US" dirty="0"/>
              <a:t>새로운 뉴스 </a:t>
            </a:r>
            <a:r>
              <a:rPr lang="en-US" altLang="ko-KR" dirty="0"/>
              <a:t>10</a:t>
            </a:r>
            <a:r>
              <a:rPr lang="ko-KR" altLang="en-US" dirty="0"/>
              <a:t>개</a:t>
            </a:r>
            <a:r>
              <a:rPr lang="en-US" altLang="ko-KR" dirty="0"/>
              <a:t>)" </a:t>
            </a:r>
            <a:r>
              <a:rPr lang="ko-KR" altLang="en-US" dirty="0"/>
              <a:t>형태로 </a:t>
            </a:r>
            <a:r>
              <a:rPr lang="ko-KR" altLang="en-US" dirty="0" err="1"/>
              <a:t>뱃지</a:t>
            </a:r>
            <a:r>
              <a:rPr lang="en-US" altLang="ko-KR" dirty="0"/>
              <a:t>(Badge) </a:t>
            </a:r>
            <a:r>
              <a:rPr lang="ko-KR" altLang="en-US" dirty="0"/>
              <a:t>표시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i="1" dirty="0"/>
              <a:t>상세 화면</a:t>
            </a:r>
            <a:r>
              <a:rPr lang="en-US" altLang="ko-KR" i="1" dirty="0"/>
              <a:t>:</a:t>
            </a:r>
            <a:r>
              <a:rPr lang="ko-KR" altLang="en-US" dirty="0"/>
              <a:t> 특정 방에 입장 시</a:t>
            </a:r>
            <a:r>
              <a:rPr lang="en-US" altLang="ko-KR" dirty="0"/>
              <a:t>, </a:t>
            </a:r>
            <a:r>
              <a:rPr lang="ko-KR" altLang="en-US" dirty="0"/>
              <a:t>해당 주제의 최신 핫라인 뉴스 </a:t>
            </a:r>
            <a:r>
              <a:rPr lang="en-US" altLang="ko-KR" dirty="0"/>
              <a:t>10</a:t>
            </a:r>
            <a:r>
              <a:rPr lang="ko-KR" altLang="en-US" dirty="0"/>
              <a:t>개가 메신저 말풍선이나 깔끔한 카드 형태로 나열됨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UX </a:t>
            </a:r>
            <a:r>
              <a:rPr lang="ko-KR" altLang="en-US" b="1" dirty="0"/>
              <a:t>기대 효과</a:t>
            </a:r>
            <a:r>
              <a:rPr lang="en-US" altLang="ko-KR" b="1" dirty="0"/>
              <a:t>:</a:t>
            </a:r>
            <a:r>
              <a:rPr lang="ko-KR" altLang="en-US" dirty="0"/>
              <a:t> 알림을 통해 유입된 사용자가 하나의 뉴스만 보고 이탈하는 것을 방지하고</a:t>
            </a:r>
            <a:r>
              <a:rPr lang="en-US" altLang="ko-KR" dirty="0"/>
              <a:t>, </a:t>
            </a:r>
            <a:r>
              <a:rPr lang="ko-KR" altLang="en-US" dirty="0"/>
              <a:t>채팅방을 이동하듯 다른 주제의 뉴스까지 자연스럽게 체류하며 소비하도록 유도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191867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34C34B-5070-33A7-35FA-42ED40786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385EB4-CAD7-22F7-6108-D7E78412F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ko-KR" altLang="en-US" b="1" dirty="0"/>
              <a:t>📄 </a:t>
            </a:r>
            <a:r>
              <a:rPr lang="en-US" altLang="ko-KR" b="1" dirty="0"/>
              <a:t>[</a:t>
            </a:r>
            <a:r>
              <a:rPr lang="ko-KR" altLang="en-US" b="1" dirty="0"/>
              <a:t>슬라이드</a:t>
            </a:r>
            <a:r>
              <a:rPr lang="en-US" altLang="ko-KR" b="1" dirty="0"/>
              <a:t>: </a:t>
            </a:r>
            <a:r>
              <a:rPr lang="ko-KR" altLang="en-US" b="1" dirty="0"/>
              <a:t>기술 실현 가능성 및 트래픽 방어 전략</a:t>
            </a:r>
            <a:r>
              <a:rPr lang="en-US" altLang="ko-KR" b="1" dirty="0"/>
              <a:t>]</a:t>
            </a:r>
          </a:p>
          <a:p>
            <a:r>
              <a:rPr lang="en-US" altLang="ko-KR" b="1" dirty="0"/>
              <a:t>1. </a:t>
            </a:r>
            <a:r>
              <a:rPr lang="ko-KR" altLang="en-US" b="1" dirty="0"/>
              <a:t>초경량 통신 프로토콜 </a:t>
            </a:r>
            <a:r>
              <a:rPr lang="en-US" altLang="ko-KR" b="1" dirty="0"/>
              <a:t>(Payload </a:t>
            </a:r>
            <a:r>
              <a:rPr lang="ko-KR" altLang="en-US" b="1" dirty="0"/>
              <a:t>최적화</a:t>
            </a:r>
            <a:r>
              <a:rPr lang="en-US" altLang="ko-KR" b="1" dirty="0"/>
              <a:t>)</a:t>
            </a:r>
            <a:endParaRPr lang="ko-KR" altLang="en-US" dirty="0"/>
          </a:p>
          <a:p>
            <a:r>
              <a:rPr lang="ko-KR" altLang="en-US" b="1" dirty="0"/>
              <a:t>문제 제기</a:t>
            </a:r>
            <a:r>
              <a:rPr lang="en-US" altLang="ko-KR" b="1" dirty="0"/>
              <a:t>:</a:t>
            </a:r>
            <a:r>
              <a:rPr lang="ko-KR" altLang="en-US" dirty="0"/>
              <a:t> 맞춤형 뉴스 제공을 위해 사용자의 </a:t>
            </a:r>
            <a:r>
              <a:rPr lang="en-US" altLang="ko-KR" dirty="0"/>
              <a:t>'</a:t>
            </a:r>
            <a:r>
              <a:rPr lang="ko-KR" altLang="en-US" dirty="0"/>
              <a:t>읽음 처리</a:t>
            </a:r>
            <a:r>
              <a:rPr lang="en-US" altLang="ko-KR" dirty="0"/>
              <a:t>' </a:t>
            </a:r>
            <a:r>
              <a:rPr lang="ko-KR" altLang="en-US" dirty="0"/>
              <a:t>데이터를 서버와 동기화할 경우</a:t>
            </a:r>
            <a:r>
              <a:rPr lang="en-US" altLang="ko-KR" dirty="0"/>
              <a:t>, </a:t>
            </a:r>
            <a:r>
              <a:rPr lang="ko-KR" altLang="en-US" dirty="0"/>
              <a:t>장기 사용 시 트래픽 폭탄</a:t>
            </a:r>
            <a:r>
              <a:rPr lang="en-US" altLang="ko-KR" dirty="0"/>
              <a:t>(</a:t>
            </a:r>
            <a:r>
              <a:rPr lang="ko-KR" altLang="en-US" dirty="0"/>
              <a:t>수백만 자의 데이터 전송</a:t>
            </a:r>
            <a:r>
              <a:rPr lang="en-US" altLang="ko-KR" dirty="0"/>
              <a:t>) </a:t>
            </a:r>
            <a:r>
              <a:rPr lang="ko-KR" altLang="en-US" dirty="0"/>
              <a:t>발생 우려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해결 방안 </a:t>
            </a:r>
            <a:r>
              <a:rPr lang="en-US" altLang="ko-KR" b="1" dirty="0"/>
              <a:t>(10</a:t>
            </a:r>
            <a:r>
              <a:rPr lang="ko-KR" altLang="en-US" b="1" dirty="0"/>
              <a:t>자리 복합키 도입</a:t>
            </a:r>
            <a:r>
              <a:rPr lang="en-US" altLang="ko-KR" b="1" dirty="0"/>
              <a:t>):</a:t>
            </a:r>
            <a:r>
              <a:rPr lang="ko-KR" altLang="en-US" dirty="0"/>
              <a:t> 뉴스 </a:t>
            </a:r>
            <a:r>
              <a:rPr lang="en-US" altLang="ko-KR" dirty="0"/>
              <a:t>ID</a:t>
            </a:r>
            <a:r>
              <a:rPr lang="ko-KR" altLang="en-US" dirty="0"/>
              <a:t>를 </a:t>
            </a:r>
            <a:r>
              <a:rPr lang="en-US" altLang="ko-KR" dirty="0"/>
              <a:t>YYMMDD + 4</a:t>
            </a:r>
            <a:r>
              <a:rPr lang="ko-KR" altLang="en-US" dirty="0"/>
              <a:t>자리 순번 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2603270001) </a:t>
            </a:r>
            <a:r>
              <a:rPr lang="ko-KR" altLang="en-US" dirty="0"/>
              <a:t>형태의 </a:t>
            </a:r>
            <a:r>
              <a:rPr lang="en-US" altLang="ko-KR" dirty="0"/>
              <a:t>10</a:t>
            </a:r>
            <a:r>
              <a:rPr lang="ko-KR" altLang="en-US" dirty="0"/>
              <a:t>자리 규격으로 고정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실현 가능성 증명 </a:t>
            </a:r>
            <a:r>
              <a:rPr lang="en-US" altLang="ko-KR" b="1" dirty="0"/>
              <a:t>(</a:t>
            </a:r>
            <a:r>
              <a:rPr lang="ko-KR" altLang="en-US" b="1" dirty="0"/>
              <a:t>수치화</a:t>
            </a:r>
            <a:r>
              <a:rPr lang="en-US" altLang="ko-KR" b="1" dirty="0"/>
              <a:t>):</a:t>
            </a:r>
            <a:r>
              <a:rPr lang="ko-KR" altLang="en-US" dirty="0"/>
              <a:t> * 시간당 최대 </a:t>
            </a:r>
            <a:r>
              <a:rPr lang="en-US" altLang="ko-KR" dirty="0"/>
              <a:t>120</a:t>
            </a:r>
            <a:r>
              <a:rPr lang="ko-KR" altLang="en-US" dirty="0"/>
              <a:t>개 수집 시</a:t>
            </a:r>
            <a:r>
              <a:rPr lang="en-US" altLang="ko-KR" dirty="0"/>
              <a:t>, </a:t>
            </a:r>
            <a:r>
              <a:rPr lang="ko-KR" altLang="en-US" dirty="0"/>
              <a:t>하루 발생 기사는 최대 </a:t>
            </a:r>
            <a:r>
              <a:rPr lang="en-US" altLang="ko-KR" dirty="0"/>
              <a:t>2,880</a:t>
            </a:r>
            <a:r>
              <a:rPr lang="ko-KR" altLang="en-US" dirty="0"/>
              <a:t>개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하루치 기사를 모두 읽었다고 가정해도 전송 데이터는 </a:t>
            </a:r>
            <a:r>
              <a:rPr lang="en-US" altLang="ko-KR" dirty="0"/>
              <a:t>2,880</a:t>
            </a:r>
            <a:r>
              <a:rPr lang="ko-KR" altLang="en-US" dirty="0"/>
              <a:t>개 * </a:t>
            </a:r>
            <a:r>
              <a:rPr lang="en-US" altLang="ko-KR" dirty="0"/>
              <a:t>10</a:t>
            </a:r>
            <a:r>
              <a:rPr lang="ko-KR" altLang="en-US" dirty="0"/>
              <a:t>자 </a:t>
            </a:r>
            <a:r>
              <a:rPr lang="en-US" altLang="ko-KR" dirty="0"/>
              <a:t>= </a:t>
            </a:r>
            <a:r>
              <a:rPr lang="ko-KR" altLang="en-US" dirty="0"/>
              <a:t>약 </a:t>
            </a:r>
            <a:r>
              <a:rPr lang="en-US" altLang="ko-KR" dirty="0"/>
              <a:t>28.8KB.</a:t>
            </a:r>
          </a:p>
          <a:p>
            <a:pPr lvl="1"/>
            <a:r>
              <a:rPr lang="ko-KR" altLang="en-US" b="1" dirty="0"/>
              <a:t>결론</a:t>
            </a:r>
            <a:r>
              <a:rPr lang="en-US" altLang="ko-KR" b="1" dirty="0"/>
              <a:t>:</a:t>
            </a:r>
            <a:r>
              <a:rPr lang="ko-KR" altLang="en-US" dirty="0"/>
              <a:t> 이미지 </a:t>
            </a:r>
            <a:r>
              <a:rPr lang="en-US" altLang="ko-KR" dirty="0"/>
              <a:t>1</a:t>
            </a:r>
            <a:r>
              <a:rPr lang="ko-KR" altLang="en-US" dirty="0"/>
              <a:t>장</a:t>
            </a:r>
            <a:r>
              <a:rPr lang="en-US" altLang="ko-KR" dirty="0"/>
              <a:t>(</a:t>
            </a:r>
            <a:r>
              <a:rPr lang="ko-KR" altLang="en-US" dirty="0"/>
              <a:t>약 </a:t>
            </a:r>
            <a:r>
              <a:rPr lang="en-US" altLang="ko-KR" dirty="0"/>
              <a:t>3,000KB)</a:t>
            </a:r>
            <a:r>
              <a:rPr lang="ko-KR" altLang="en-US" dirty="0"/>
              <a:t>의 </a:t>
            </a:r>
            <a:r>
              <a:rPr lang="en-US" altLang="ko-KR" dirty="0"/>
              <a:t>100</a:t>
            </a:r>
            <a:r>
              <a:rPr lang="ko-KR" altLang="en-US" dirty="0"/>
              <a:t>분의 </a:t>
            </a:r>
            <a:r>
              <a:rPr lang="en-US" altLang="ko-KR" dirty="0"/>
              <a:t>1</a:t>
            </a:r>
            <a:r>
              <a:rPr lang="ko-KR" altLang="en-US" dirty="0"/>
              <a:t>도 안 되는 극소량의 텍스트 데이터만 통신하므로</a:t>
            </a:r>
            <a:r>
              <a:rPr lang="en-US" altLang="ko-KR" dirty="0"/>
              <a:t>, </a:t>
            </a:r>
            <a:r>
              <a:rPr lang="ko-KR" altLang="en-US" dirty="0"/>
              <a:t>수만 명의 동시 접속에도 네트워크 병목 현상 발생 확률 </a:t>
            </a:r>
            <a:r>
              <a:rPr lang="en-US" altLang="ko-KR" dirty="0"/>
              <a:t>0%.</a:t>
            </a:r>
          </a:p>
          <a:p>
            <a:r>
              <a:rPr lang="en-US" altLang="ko-KR" b="1" dirty="0"/>
              <a:t>2. </a:t>
            </a:r>
            <a:r>
              <a:rPr lang="ko-KR" altLang="en-US" b="1" dirty="0"/>
              <a:t>서버 </a:t>
            </a:r>
            <a:r>
              <a:rPr lang="ko-KR" altLang="en-US" b="1" dirty="0" err="1"/>
              <a:t>무상태</a:t>
            </a:r>
            <a:r>
              <a:rPr lang="en-US" altLang="ko-KR" b="1" dirty="0"/>
              <a:t>(Stateless) </a:t>
            </a:r>
            <a:r>
              <a:rPr lang="ko-KR" altLang="en-US" b="1" dirty="0"/>
              <a:t>아키텍처 및 자동 정화 </a:t>
            </a:r>
            <a:r>
              <a:rPr lang="en-US" altLang="ko-KR" b="1" dirty="0"/>
              <a:t>(Data Purge)</a:t>
            </a:r>
            <a:endParaRPr lang="ko-KR" altLang="en-US" dirty="0"/>
          </a:p>
          <a:p>
            <a:r>
              <a:rPr lang="ko-KR" altLang="en-US" b="1" dirty="0"/>
              <a:t>문제 제기</a:t>
            </a:r>
            <a:r>
              <a:rPr lang="en-US" altLang="ko-KR" b="1" dirty="0"/>
              <a:t>:</a:t>
            </a:r>
            <a:r>
              <a:rPr lang="ko-KR" altLang="en-US" dirty="0"/>
              <a:t> 서버 중앙 </a:t>
            </a:r>
            <a:r>
              <a:rPr lang="en-US" altLang="ko-KR" dirty="0"/>
              <a:t>DB</a:t>
            </a:r>
            <a:r>
              <a:rPr lang="ko-KR" altLang="en-US" dirty="0"/>
              <a:t>에 모든 사용자의 개인별 열람 이력을 저장할 경우</a:t>
            </a:r>
            <a:r>
              <a:rPr lang="en-US" altLang="ko-KR" dirty="0"/>
              <a:t>, </a:t>
            </a:r>
            <a:r>
              <a:rPr lang="ko-KR" altLang="en-US" dirty="0"/>
              <a:t>막대한 스토리지 비용 및 </a:t>
            </a:r>
            <a:r>
              <a:rPr lang="en-US" altLang="ko-KR" dirty="0"/>
              <a:t>DB </a:t>
            </a:r>
            <a:r>
              <a:rPr lang="ko-KR" altLang="en-US" dirty="0"/>
              <a:t>조회 속도 저하 발생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해결 방안</a:t>
            </a:r>
            <a:r>
              <a:rPr lang="en-US" altLang="ko-KR" b="1" dirty="0"/>
              <a:t>:</a:t>
            </a:r>
            <a:r>
              <a:rPr lang="ko-KR" altLang="en-US" dirty="0"/>
              <a:t> 클라이언트</a:t>
            </a:r>
            <a:r>
              <a:rPr lang="en-US" altLang="ko-KR" dirty="0"/>
              <a:t>(</a:t>
            </a:r>
            <a:r>
              <a:rPr lang="ko-KR" altLang="en-US" dirty="0"/>
              <a:t>사용자 기기</a:t>
            </a:r>
            <a:r>
              <a:rPr lang="en-US" altLang="ko-KR" dirty="0"/>
              <a:t>)</a:t>
            </a:r>
            <a:r>
              <a:rPr lang="ko-KR" altLang="en-US" dirty="0"/>
              <a:t>가 본인의 읽은 뉴스 </a:t>
            </a:r>
            <a:r>
              <a:rPr lang="en-US" altLang="ko-KR" dirty="0"/>
              <a:t>ID</a:t>
            </a:r>
            <a:r>
              <a:rPr lang="ko-KR" altLang="en-US" dirty="0"/>
              <a:t>를 직접 기억하고</a:t>
            </a:r>
            <a:r>
              <a:rPr lang="en-US" altLang="ko-KR" dirty="0"/>
              <a:t>, </a:t>
            </a:r>
            <a:r>
              <a:rPr lang="ko-KR" altLang="en-US" dirty="0"/>
              <a:t>서버에 요청할 때만 제외 목록으로 전달하는 </a:t>
            </a:r>
            <a:r>
              <a:rPr lang="ko-KR" altLang="en-US" dirty="0" err="1"/>
              <a:t>무상태</a:t>
            </a:r>
            <a:r>
              <a:rPr lang="ko-KR" altLang="en-US" dirty="0"/>
              <a:t> 구조 채택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유통기한 자동화</a:t>
            </a:r>
            <a:r>
              <a:rPr lang="en-US" altLang="ko-KR" b="1" dirty="0"/>
              <a:t>:</a:t>
            </a:r>
            <a:r>
              <a:rPr lang="ko-KR" altLang="en-US" dirty="0"/>
              <a:t> * 앞서 설계한 </a:t>
            </a:r>
            <a:r>
              <a:rPr lang="en-US" altLang="ko-KR" dirty="0"/>
              <a:t>10</a:t>
            </a:r>
            <a:r>
              <a:rPr lang="ko-KR" altLang="en-US" dirty="0"/>
              <a:t>자리 </a:t>
            </a:r>
            <a:r>
              <a:rPr lang="en-US" altLang="ko-KR" dirty="0"/>
              <a:t>ID(260327...)</a:t>
            </a:r>
            <a:r>
              <a:rPr lang="ko-KR" altLang="en-US" dirty="0"/>
              <a:t>의 앞 </a:t>
            </a:r>
            <a:r>
              <a:rPr lang="en-US" altLang="ko-KR" dirty="0"/>
              <a:t>6</a:t>
            </a:r>
            <a:r>
              <a:rPr lang="ko-KR" altLang="en-US" dirty="0"/>
              <a:t>자리</a:t>
            </a:r>
            <a:r>
              <a:rPr lang="en-US" altLang="ko-KR" dirty="0"/>
              <a:t>(</a:t>
            </a:r>
            <a:r>
              <a:rPr lang="ko-KR" altLang="en-US" dirty="0"/>
              <a:t>날짜</a:t>
            </a:r>
            <a:r>
              <a:rPr lang="en-US" altLang="ko-KR" dirty="0"/>
              <a:t>)</a:t>
            </a:r>
            <a:r>
              <a:rPr lang="ko-KR" altLang="en-US" dirty="0"/>
              <a:t>를 클라이언트가 스스로 판별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수신된 지 </a:t>
            </a:r>
            <a:r>
              <a:rPr lang="en-US" altLang="ko-KR" dirty="0"/>
              <a:t>3</a:t>
            </a:r>
            <a:r>
              <a:rPr lang="ko-KR" altLang="en-US" dirty="0"/>
              <a:t>일이 지난 데이터는 클라이언트 저장소에서 자동 삭제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서버 </a:t>
            </a:r>
            <a:r>
              <a:rPr lang="en-US" altLang="ko-KR" dirty="0"/>
              <a:t>DB </a:t>
            </a:r>
            <a:r>
              <a:rPr lang="ko-KR" altLang="en-US" dirty="0"/>
              <a:t>역시 </a:t>
            </a:r>
            <a:r>
              <a:rPr lang="en-US" altLang="ko-KR" dirty="0"/>
              <a:t>3</a:t>
            </a:r>
            <a:r>
              <a:rPr lang="ko-KR" altLang="en-US" dirty="0"/>
              <a:t>일이 지난 뉴스는 매일 새벽 스케줄러를 통해 자동 영구 파기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b="1" dirty="0"/>
              <a:t>결론</a:t>
            </a:r>
            <a:r>
              <a:rPr lang="en-US" altLang="ko-KR" b="1" dirty="0"/>
              <a:t>:</a:t>
            </a:r>
            <a:r>
              <a:rPr lang="ko-KR" altLang="en-US" dirty="0"/>
              <a:t> 시스템이 영원히 무거워지지 않는 </a:t>
            </a:r>
            <a:r>
              <a:rPr lang="en-US" altLang="ko-KR" dirty="0"/>
              <a:t>'</a:t>
            </a:r>
            <a:r>
              <a:rPr lang="ko-KR" altLang="en-US" dirty="0"/>
              <a:t>자정 작용</a:t>
            </a:r>
            <a:r>
              <a:rPr lang="en-US" altLang="ko-KR" dirty="0"/>
              <a:t>'</a:t>
            </a:r>
            <a:r>
              <a:rPr lang="ko-KR" altLang="en-US" dirty="0"/>
              <a:t>을 갖춘 완벽한 구조 실현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3. </a:t>
            </a:r>
            <a:r>
              <a:rPr lang="ko-KR" altLang="en-US" b="1" dirty="0"/>
              <a:t>정보 편식 방지</a:t>
            </a:r>
            <a:r>
              <a:rPr lang="en-US" altLang="ko-KR" b="1" dirty="0"/>
              <a:t>: </a:t>
            </a:r>
            <a:r>
              <a:rPr lang="ko-KR" altLang="en-US" b="1" dirty="0"/>
              <a:t>라운드 로빈</a:t>
            </a:r>
            <a:r>
              <a:rPr lang="en-US" altLang="ko-KR" b="1" dirty="0"/>
              <a:t>(Round-Robin) </a:t>
            </a:r>
            <a:r>
              <a:rPr lang="ko-KR" altLang="en-US" b="1" dirty="0"/>
              <a:t>알고리즘</a:t>
            </a:r>
            <a:endParaRPr lang="ko-KR" altLang="en-US" dirty="0"/>
          </a:p>
          <a:p>
            <a:r>
              <a:rPr lang="ko-KR" altLang="en-US" b="1" dirty="0"/>
              <a:t>문제 제기</a:t>
            </a:r>
            <a:r>
              <a:rPr lang="en-US" altLang="ko-KR" b="1" dirty="0"/>
              <a:t>:</a:t>
            </a:r>
            <a:r>
              <a:rPr lang="ko-KR" altLang="en-US" dirty="0"/>
              <a:t> 단순 조회수 정렬 시</a:t>
            </a:r>
            <a:r>
              <a:rPr lang="en-US" altLang="ko-KR" dirty="0"/>
              <a:t>, </a:t>
            </a:r>
            <a:r>
              <a:rPr lang="ko-KR" altLang="en-US" dirty="0"/>
              <a:t>자극적인 특정 카테고리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연예</a:t>
            </a:r>
            <a:r>
              <a:rPr lang="en-US" altLang="ko-KR" dirty="0"/>
              <a:t>, </a:t>
            </a:r>
            <a:r>
              <a:rPr lang="ko-KR" altLang="en-US" dirty="0"/>
              <a:t>스포츠</a:t>
            </a:r>
            <a:r>
              <a:rPr lang="en-US" altLang="ko-KR" dirty="0"/>
              <a:t>)</a:t>
            </a:r>
            <a:r>
              <a:rPr lang="ko-KR" altLang="en-US" dirty="0"/>
              <a:t>가 알림을 독식하는 현상 발생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해결 방안</a:t>
            </a:r>
            <a:r>
              <a:rPr lang="en-US" altLang="ko-KR" b="1" dirty="0"/>
              <a:t>:</a:t>
            </a:r>
            <a:r>
              <a:rPr lang="ko-KR" altLang="en-US" dirty="0"/>
              <a:t> 사용자가 설정한 주제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IT, </a:t>
            </a:r>
            <a:r>
              <a:rPr lang="ko-KR" altLang="en-US" dirty="0"/>
              <a:t>경제</a:t>
            </a:r>
            <a:r>
              <a:rPr lang="en-US" altLang="ko-KR" dirty="0"/>
              <a:t>, </a:t>
            </a:r>
            <a:r>
              <a:rPr lang="ko-KR" altLang="en-US" dirty="0"/>
              <a:t>사회</a:t>
            </a:r>
            <a:r>
              <a:rPr lang="en-US" altLang="ko-KR" dirty="0"/>
              <a:t>)</a:t>
            </a:r>
            <a:r>
              <a:rPr lang="ko-KR" altLang="en-US" dirty="0"/>
              <a:t>별로 </a:t>
            </a:r>
            <a:r>
              <a:rPr lang="en-US" altLang="ko-KR" dirty="0"/>
              <a:t>1</a:t>
            </a:r>
            <a:r>
              <a:rPr lang="ko-KR" altLang="en-US" dirty="0"/>
              <a:t>위 기사부터 순차적으로 교차 추출하여 </a:t>
            </a:r>
            <a:r>
              <a:rPr lang="en-US" altLang="ko-KR" dirty="0"/>
              <a:t>10</a:t>
            </a:r>
            <a:r>
              <a:rPr lang="ko-KR" altLang="en-US" dirty="0"/>
              <a:t>개의 슬롯을 채움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결론</a:t>
            </a:r>
            <a:r>
              <a:rPr lang="en-US" altLang="ko-KR" b="1" dirty="0"/>
              <a:t>:</a:t>
            </a:r>
            <a:r>
              <a:rPr lang="ko-KR" altLang="en-US" dirty="0"/>
              <a:t> 사용자의 다양한 관심사를 완벽하게 충족시키는 동시에</a:t>
            </a:r>
            <a:r>
              <a:rPr lang="en-US" altLang="ko-KR" dirty="0"/>
              <a:t>, </a:t>
            </a:r>
            <a:r>
              <a:rPr lang="ko-KR" altLang="en-US" dirty="0"/>
              <a:t>고품질의 뉴스 큐레이션 경험 제공 가능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358451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842D17-8094-A770-7E64-1CB968821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E67ACA-32F5-1EED-824E-694BE6A71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altLang="ko-KR" b="1" dirty="0"/>
              <a:t>[</a:t>
            </a:r>
            <a:r>
              <a:rPr lang="ko-KR" altLang="en-US" b="1" dirty="0"/>
              <a:t>최종 요약본</a:t>
            </a:r>
            <a:r>
              <a:rPr lang="en-US" altLang="ko-KR" b="1" dirty="0"/>
              <a:t>] </a:t>
            </a:r>
            <a:r>
              <a:rPr lang="ko-KR" altLang="en-US" b="1" dirty="0"/>
              <a:t>오늘의 뉴스 </a:t>
            </a:r>
            <a:r>
              <a:rPr lang="en-US" altLang="ko-KR" b="1" dirty="0"/>
              <a:t>- </a:t>
            </a:r>
            <a:r>
              <a:rPr lang="ko-KR" altLang="en-US" b="1" dirty="0"/>
              <a:t>핵심 작동 원리 및 시스템 아키텍처</a:t>
            </a:r>
          </a:p>
          <a:p>
            <a:r>
              <a:rPr lang="en-US" altLang="ko-KR" b="1" dirty="0"/>
              <a:t>1. </a:t>
            </a:r>
            <a:r>
              <a:rPr lang="ko-KR" altLang="en-US" b="1" dirty="0" err="1"/>
              <a:t>서버단</a:t>
            </a:r>
            <a:r>
              <a:rPr lang="ko-KR" altLang="en-US" b="1" dirty="0"/>
              <a:t> </a:t>
            </a:r>
            <a:r>
              <a:rPr lang="en-US" altLang="ko-KR" b="1" dirty="0"/>
              <a:t>(</a:t>
            </a:r>
            <a:r>
              <a:rPr lang="ko-KR" altLang="en-US" b="1" dirty="0" err="1"/>
              <a:t>백엔드</a:t>
            </a:r>
            <a:r>
              <a:rPr lang="en-US" altLang="ko-KR" b="1" dirty="0"/>
              <a:t>): </a:t>
            </a:r>
            <a:r>
              <a:rPr lang="ko-KR" altLang="en-US" b="1" dirty="0"/>
              <a:t>수집</a:t>
            </a:r>
            <a:r>
              <a:rPr lang="en-US" altLang="ko-KR" b="1" dirty="0"/>
              <a:t>·</a:t>
            </a:r>
            <a:r>
              <a:rPr lang="ko-KR" altLang="en-US" b="1" dirty="0"/>
              <a:t>가공 및 </a:t>
            </a:r>
            <a:r>
              <a:rPr lang="ko-KR" altLang="en-US" b="1" dirty="0" err="1"/>
              <a:t>무상태</a:t>
            </a:r>
            <a:r>
              <a:rPr lang="en-US" altLang="ko-KR" b="1" dirty="0"/>
              <a:t>(Stateless) </a:t>
            </a:r>
            <a:r>
              <a:rPr lang="ko-KR" altLang="en-US" b="1" dirty="0"/>
              <a:t>운영</a:t>
            </a:r>
          </a:p>
          <a:p>
            <a:r>
              <a:rPr lang="ko-KR" altLang="en-US" b="1" dirty="0"/>
              <a:t>무한 </a:t>
            </a:r>
            <a:r>
              <a:rPr lang="ko-KR" altLang="en-US" b="1" dirty="0" err="1"/>
              <a:t>크롤링</a:t>
            </a:r>
            <a:r>
              <a:rPr lang="ko-KR" altLang="en-US" b="1" dirty="0"/>
              <a:t> </a:t>
            </a:r>
            <a:r>
              <a:rPr lang="en-US" altLang="ko-KR" b="1" dirty="0"/>
              <a:t>&amp; AI </a:t>
            </a:r>
            <a:r>
              <a:rPr lang="ko-KR" altLang="en-US" b="1" dirty="0"/>
              <a:t>요약</a:t>
            </a:r>
            <a:r>
              <a:rPr lang="en-US" altLang="ko-KR" b="1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5</a:t>
            </a:r>
            <a:r>
              <a:rPr lang="ko-KR" altLang="en-US" dirty="0"/>
              <a:t>분 주기로 전체 카테고리의 최신 뉴스를 수집하고 </a:t>
            </a:r>
            <a:r>
              <a:rPr lang="en-US" altLang="ko-KR" dirty="0"/>
              <a:t>, 10</a:t>
            </a:r>
            <a:r>
              <a:rPr lang="ko-KR" altLang="en-US" dirty="0"/>
              <a:t>분 주기로 </a:t>
            </a:r>
            <a:r>
              <a:rPr lang="en-US" altLang="ko-KR" dirty="0"/>
              <a:t>Gemini API</a:t>
            </a:r>
            <a:r>
              <a:rPr lang="ko-KR" altLang="en-US" dirty="0"/>
              <a:t>를 호출해 </a:t>
            </a:r>
            <a:r>
              <a:rPr lang="en-US" altLang="ko-KR" dirty="0"/>
              <a:t>'1</a:t>
            </a:r>
            <a:r>
              <a:rPr lang="ko-KR" altLang="en-US" dirty="0"/>
              <a:t>줄 핵심 요약본</a:t>
            </a:r>
            <a:r>
              <a:rPr lang="en-US" altLang="ko-KR" dirty="0"/>
              <a:t>'</a:t>
            </a:r>
            <a:r>
              <a:rPr lang="ko-KR" altLang="en-US" dirty="0"/>
              <a:t>을 생성합니다</a:t>
            </a:r>
            <a:r>
              <a:rPr lang="en-US" altLang="ko-KR" dirty="0"/>
              <a:t>.</a:t>
            </a:r>
          </a:p>
          <a:p>
            <a:r>
              <a:rPr lang="ko-KR" altLang="en-US" b="1" dirty="0" err="1"/>
              <a:t>무상태</a:t>
            </a:r>
            <a:r>
              <a:rPr lang="en-US" altLang="ko-KR" b="1" dirty="0"/>
              <a:t>(Stateless) DB:</a:t>
            </a:r>
            <a:r>
              <a:rPr lang="ko-KR" altLang="en-US" dirty="0"/>
              <a:t> 서버는 개별 사용자의 </a:t>
            </a:r>
            <a:r>
              <a:rPr lang="en-US" altLang="ko-KR" dirty="0"/>
              <a:t>'</a:t>
            </a:r>
            <a:r>
              <a:rPr lang="ko-KR" altLang="en-US" dirty="0"/>
              <a:t>읽음 이력</a:t>
            </a:r>
            <a:r>
              <a:rPr lang="en-US" altLang="ko-KR" dirty="0"/>
              <a:t>'</a:t>
            </a:r>
            <a:r>
              <a:rPr lang="ko-KR" altLang="en-US" dirty="0"/>
              <a:t>을 일일이 기억하지 않아 서버 부하와 스토리지 비용을 극단적으로 낮춥니다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데이터 영구 파기</a:t>
            </a:r>
            <a:r>
              <a:rPr lang="en-US" altLang="ko-KR" b="1" dirty="0"/>
              <a:t>(Purge):</a:t>
            </a:r>
            <a:r>
              <a:rPr lang="ko-KR" altLang="en-US" dirty="0"/>
              <a:t> 당일 </a:t>
            </a:r>
            <a:r>
              <a:rPr lang="ko-KR" altLang="en-US" dirty="0" err="1"/>
              <a:t>핫이슈</a:t>
            </a:r>
            <a:r>
              <a:rPr lang="ko-KR" altLang="en-US" dirty="0"/>
              <a:t> 중심의 서비스이므로</a:t>
            </a:r>
            <a:r>
              <a:rPr lang="en-US" altLang="ko-KR" dirty="0"/>
              <a:t>, 3</a:t>
            </a:r>
            <a:r>
              <a:rPr lang="ko-KR" altLang="en-US" dirty="0"/>
              <a:t>일</a:t>
            </a:r>
            <a:r>
              <a:rPr lang="en-US" altLang="ko-KR" dirty="0"/>
              <a:t>(</a:t>
            </a:r>
            <a:r>
              <a:rPr lang="ko-KR" altLang="en-US" dirty="0"/>
              <a:t>또는 </a:t>
            </a:r>
            <a:r>
              <a:rPr lang="en-US" altLang="ko-KR" dirty="0"/>
              <a:t>24</a:t>
            </a:r>
            <a:r>
              <a:rPr lang="ko-KR" altLang="en-US" dirty="0"/>
              <a:t>시간</a:t>
            </a:r>
            <a:r>
              <a:rPr lang="en-US" altLang="ko-KR" dirty="0"/>
              <a:t>)</a:t>
            </a:r>
            <a:r>
              <a:rPr lang="ko-KR" altLang="en-US" dirty="0"/>
              <a:t>이 지난 과거 데이터는 매일 새벽 서버에서 영구 삭제하여 가벼운 상태를 유지합니다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2. </a:t>
            </a:r>
            <a:r>
              <a:rPr lang="ko-KR" altLang="en-US" b="1" dirty="0"/>
              <a:t>클라이언트단 </a:t>
            </a:r>
            <a:r>
              <a:rPr lang="en-US" altLang="ko-KR" b="1" dirty="0"/>
              <a:t>(</a:t>
            </a:r>
            <a:r>
              <a:rPr lang="ko-KR" altLang="en-US" b="1" dirty="0" err="1"/>
              <a:t>프론트엔드</a:t>
            </a:r>
            <a:r>
              <a:rPr lang="en-US" altLang="ko-KR" b="1" dirty="0"/>
              <a:t>): </a:t>
            </a:r>
            <a:r>
              <a:rPr lang="ko-KR" altLang="en-US" b="1" dirty="0"/>
              <a:t>스마트 요청 및 자체 정화</a:t>
            </a:r>
          </a:p>
          <a:p>
            <a:r>
              <a:rPr lang="en-US" altLang="ko-KR" b="1" dirty="0"/>
              <a:t>10</a:t>
            </a:r>
            <a:r>
              <a:rPr lang="ko-KR" altLang="en-US" b="1" dirty="0"/>
              <a:t>자리 복합키 최적화</a:t>
            </a:r>
            <a:r>
              <a:rPr lang="en-US" altLang="ko-KR" b="1" dirty="0"/>
              <a:t>:</a:t>
            </a:r>
            <a:r>
              <a:rPr lang="ko-KR" altLang="en-US" dirty="0"/>
              <a:t> 뉴스 </a:t>
            </a:r>
            <a:r>
              <a:rPr lang="en-US" altLang="ko-KR" dirty="0"/>
              <a:t>ID</a:t>
            </a:r>
            <a:r>
              <a:rPr lang="ko-KR" altLang="en-US" dirty="0"/>
              <a:t>를 </a:t>
            </a:r>
            <a:r>
              <a:rPr lang="en-US" altLang="ko-KR" dirty="0"/>
              <a:t>YYMMDD + 4</a:t>
            </a:r>
            <a:r>
              <a:rPr lang="ko-KR" altLang="en-US" dirty="0"/>
              <a:t>자리 순번 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2603270001) </a:t>
            </a:r>
            <a:r>
              <a:rPr lang="ko-KR" altLang="en-US" dirty="0"/>
              <a:t>형태의 </a:t>
            </a:r>
            <a:r>
              <a:rPr lang="en-US" altLang="ko-KR" dirty="0"/>
              <a:t>10</a:t>
            </a:r>
            <a:r>
              <a:rPr lang="ko-KR" altLang="en-US" dirty="0"/>
              <a:t>자리로 고정하여 데이터 크기를 극한으로 압축합니다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초경량 페이로드</a:t>
            </a:r>
            <a:r>
              <a:rPr lang="en-US" altLang="ko-KR" b="1" dirty="0"/>
              <a:t>:</a:t>
            </a:r>
            <a:r>
              <a:rPr lang="ko-KR" altLang="en-US" dirty="0"/>
              <a:t> 통신 시 관심주제 </a:t>
            </a:r>
            <a:r>
              <a:rPr lang="en-US" altLang="ko-KR" dirty="0"/>
              <a:t>/ </a:t>
            </a:r>
            <a:r>
              <a:rPr lang="ko-KR" altLang="en-US" dirty="0"/>
              <a:t>읽은</a:t>
            </a:r>
            <a:r>
              <a:rPr lang="en-US" altLang="ko-KR" dirty="0"/>
              <a:t>ID</a:t>
            </a:r>
            <a:r>
              <a:rPr lang="ko-KR" altLang="en-US" dirty="0"/>
              <a:t>목록만 서버로 전송하며</a:t>
            </a:r>
            <a:r>
              <a:rPr lang="en-US" altLang="ko-KR" dirty="0"/>
              <a:t>, </a:t>
            </a:r>
            <a:r>
              <a:rPr lang="ko-KR" altLang="en-US" dirty="0"/>
              <a:t>하루 치 뉴스를 다 읽어도 </a:t>
            </a:r>
            <a:r>
              <a:rPr lang="ko-KR" altLang="en-US" dirty="0" err="1"/>
              <a:t>전송량은</a:t>
            </a:r>
            <a:r>
              <a:rPr lang="ko-KR" altLang="en-US" dirty="0"/>
              <a:t> 약 </a:t>
            </a:r>
            <a:r>
              <a:rPr lang="en-US" altLang="ko-KR" dirty="0"/>
              <a:t>28.8KB(</a:t>
            </a:r>
            <a:r>
              <a:rPr lang="ko-KR" altLang="en-US" dirty="0"/>
              <a:t>이미지 </a:t>
            </a:r>
            <a:r>
              <a:rPr lang="en-US" altLang="ko-KR" dirty="0"/>
              <a:t>1</a:t>
            </a:r>
            <a:r>
              <a:rPr lang="ko-KR" altLang="en-US" dirty="0"/>
              <a:t>장의 </a:t>
            </a:r>
            <a:r>
              <a:rPr lang="en-US" altLang="ko-KR" dirty="0"/>
              <a:t>1/100 </a:t>
            </a:r>
            <a:r>
              <a:rPr lang="ko-KR" altLang="en-US" dirty="0"/>
              <a:t>수준</a:t>
            </a:r>
            <a:r>
              <a:rPr lang="en-US" altLang="ko-KR" dirty="0"/>
              <a:t>)</a:t>
            </a:r>
            <a:r>
              <a:rPr lang="ko-KR" altLang="en-US" dirty="0"/>
              <a:t>에 불과합니다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자체 정화 </a:t>
            </a:r>
            <a:r>
              <a:rPr lang="en-US" altLang="ko-KR" b="1" dirty="0"/>
              <a:t>(Auto Cleanup):</a:t>
            </a:r>
            <a:r>
              <a:rPr lang="ko-KR" altLang="en-US" dirty="0"/>
              <a:t> 클라이언트가 </a:t>
            </a:r>
            <a:r>
              <a:rPr lang="en-US" altLang="ko-KR" dirty="0"/>
              <a:t>10</a:t>
            </a:r>
            <a:r>
              <a:rPr lang="ko-KR" altLang="en-US" dirty="0"/>
              <a:t>자리 </a:t>
            </a:r>
            <a:r>
              <a:rPr lang="en-US" altLang="ko-KR" dirty="0"/>
              <a:t>ID</a:t>
            </a:r>
            <a:r>
              <a:rPr lang="ko-KR" altLang="en-US" dirty="0"/>
              <a:t>의 앞 날짜</a:t>
            </a:r>
            <a:r>
              <a:rPr lang="en-US" altLang="ko-KR" dirty="0"/>
              <a:t>(260327)</a:t>
            </a:r>
            <a:r>
              <a:rPr lang="ko-KR" altLang="en-US" dirty="0"/>
              <a:t>를 스스로 판별하여</a:t>
            </a:r>
            <a:r>
              <a:rPr lang="en-US" altLang="ko-KR" dirty="0"/>
              <a:t>, 3</a:t>
            </a:r>
            <a:r>
              <a:rPr lang="ko-KR" altLang="en-US" dirty="0"/>
              <a:t>일이 지난 </a:t>
            </a:r>
            <a:r>
              <a:rPr lang="en-US" altLang="ko-KR" dirty="0"/>
              <a:t>ID</a:t>
            </a:r>
            <a:r>
              <a:rPr lang="ko-KR" altLang="en-US" dirty="0"/>
              <a:t>는 폰 저장소에서 알아서 지워 통신 길이를 영구적으로 짧게 유지합니다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3. </a:t>
            </a:r>
            <a:r>
              <a:rPr lang="ko-KR" altLang="en-US" b="1" dirty="0"/>
              <a:t>핵심 큐레이션</a:t>
            </a:r>
            <a:r>
              <a:rPr lang="en-US" altLang="ko-KR" b="1" dirty="0"/>
              <a:t>: </a:t>
            </a:r>
            <a:r>
              <a:rPr lang="ko-KR" altLang="en-US" b="1" dirty="0"/>
              <a:t>라운드 로빈 </a:t>
            </a:r>
            <a:r>
              <a:rPr lang="en-US" altLang="ko-KR" b="1" dirty="0"/>
              <a:t>(Round-Robin) </a:t>
            </a:r>
            <a:r>
              <a:rPr lang="ko-KR" altLang="en-US" b="1" dirty="0"/>
              <a:t>알고리즘</a:t>
            </a:r>
          </a:p>
          <a:p>
            <a:r>
              <a:rPr lang="ko-KR" altLang="en-US" b="1" dirty="0"/>
              <a:t>정보 편식 방지</a:t>
            </a:r>
            <a:r>
              <a:rPr lang="en-US" altLang="ko-KR" b="1" dirty="0"/>
              <a:t>:</a:t>
            </a:r>
            <a:r>
              <a:rPr lang="ko-KR" altLang="en-US" dirty="0"/>
              <a:t> 조회수 순으로만 나열하면 자극적인 기사</a:t>
            </a:r>
            <a:r>
              <a:rPr lang="en-US" altLang="ko-KR" dirty="0"/>
              <a:t>(</a:t>
            </a:r>
            <a:r>
              <a:rPr lang="ko-KR" altLang="en-US" dirty="0"/>
              <a:t>연예</a:t>
            </a:r>
            <a:r>
              <a:rPr lang="en-US" altLang="ko-KR" dirty="0"/>
              <a:t>, </a:t>
            </a:r>
            <a:r>
              <a:rPr lang="ko-KR" altLang="en-US" dirty="0"/>
              <a:t>스포츠 등</a:t>
            </a:r>
            <a:r>
              <a:rPr lang="en-US" altLang="ko-KR" dirty="0"/>
              <a:t>)</a:t>
            </a:r>
            <a:r>
              <a:rPr lang="ko-KR" altLang="en-US" dirty="0"/>
              <a:t>가 알림을 독식하는 문제를 해결합니다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교차 추출 로직</a:t>
            </a:r>
            <a:r>
              <a:rPr lang="en-US" altLang="ko-KR" b="1" dirty="0"/>
              <a:t>:</a:t>
            </a:r>
            <a:r>
              <a:rPr lang="ko-KR" altLang="en-US" dirty="0"/>
              <a:t> 사용자가 선택한 주제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IT, </a:t>
            </a:r>
            <a:r>
              <a:rPr lang="ko-KR" altLang="en-US" dirty="0"/>
              <a:t>경제</a:t>
            </a:r>
            <a:r>
              <a:rPr lang="en-US" altLang="ko-KR" dirty="0"/>
              <a:t>, </a:t>
            </a:r>
            <a:r>
              <a:rPr lang="ko-KR" altLang="en-US" dirty="0"/>
              <a:t>사회</a:t>
            </a:r>
            <a:r>
              <a:rPr lang="en-US" altLang="ko-KR" dirty="0"/>
              <a:t>)</a:t>
            </a:r>
            <a:r>
              <a:rPr lang="ko-KR" altLang="en-US" dirty="0"/>
              <a:t>에서 각각 </a:t>
            </a:r>
            <a:r>
              <a:rPr lang="en-US" altLang="ko-KR" dirty="0"/>
              <a:t>1</a:t>
            </a:r>
            <a:r>
              <a:rPr lang="ko-KR" altLang="en-US" dirty="0"/>
              <a:t>등 기사를 차례대로 뽑고</a:t>
            </a:r>
            <a:r>
              <a:rPr lang="en-US" altLang="ko-KR" dirty="0"/>
              <a:t>, </a:t>
            </a:r>
            <a:r>
              <a:rPr lang="ko-KR" altLang="en-US" dirty="0" err="1"/>
              <a:t>그다음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r>
              <a:rPr lang="ko-KR" altLang="en-US" dirty="0"/>
              <a:t>등 기사를 순차적으로 뽑아 </a:t>
            </a:r>
            <a:r>
              <a:rPr lang="en-US" altLang="ko-KR" dirty="0"/>
              <a:t>10</a:t>
            </a:r>
            <a:r>
              <a:rPr lang="ko-KR" altLang="en-US" dirty="0"/>
              <a:t>개를 채우는 완벽한 </a:t>
            </a:r>
            <a:r>
              <a:rPr lang="ko-KR" altLang="en-US" dirty="0" err="1"/>
              <a:t>밸런싱을</a:t>
            </a:r>
            <a:r>
              <a:rPr lang="ko-KR" altLang="en-US" dirty="0"/>
              <a:t> 제공합니다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4. UI/UX: </a:t>
            </a:r>
            <a:r>
              <a:rPr lang="ko-KR" altLang="en-US" b="1" dirty="0"/>
              <a:t>메신저형 룸</a:t>
            </a:r>
            <a:r>
              <a:rPr lang="en-US" altLang="ko-KR" b="1" dirty="0"/>
              <a:t>(Room) &amp; </a:t>
            </a:r>
            <a:r>
              <a:rPr lang="ko-KR" altLang="en-US" b="1" dirty="0" err="1"/>
              <a:t>사일런트</a:t>
            </a:r>
            <a:r>
              <a:rPr lang="ko-KR" altLang="en-US" b="1" dirty="0"/>
              <a:t> 업데이트</a:t>
            </a:r>
          </a:p>
          <a:p>
            <a:r>
              <a:rPr lang="ko-KR" altLang="en-US" b="1" dirty="0"/>
              <a:t>카카오톡 </a:t>
            </a:r>
            <a:r>
              <a:rPr lang="en-US" altLang="ko-KR" b="1" dirty="0"/>
              <a:t>UI </a:t>
            </a:r>
            <a:r>
              <a:rPr lang="ko-KR" altLang="en-US" b="1" dirty="0"/>
              <a:t>벤치마킹</a:t>
            </a:r>
            <a:r>
              <a:rPr lang="en-US" altLang="ko-KR" b="1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IT </a:t>
            </a:r>
            <a:r>
              <a:rPr lang="ko-KR" altLang="en-US" dirty="0"/>
              <a:t>방</a:t>
            </a:r>
            <a:r>
              <a:rPr lang="en-US" altLang="ko-KR" dirty="0"/>
              <a:t>, </a:t>
            </a:r>
            <a:r>
              <a:rPr lang="ko-KR" altLang="en-US" dirty="0"/>
              <a:t>경제 방 등 사용자가 선택한 주제가 각각의 채팅방으로 생성되어 자연스러운 체류를 유도합니다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조용한 갱신</a:t>
            </a:r>
            <a:r>
              <a:rPr lang="en-US" altLang="ko-KR" b="1" dirty="0"/>
              <a:t>:</a:t>
            </a:r>
            <a:r>
              <a:rPr lang="ko-KR" altLang="en-US" dirty="0"/>
              <a:t> 새 뉴스가 추가될 때마다 울리는 피로한 알림을 배제하고</a:t>
            </a:r>
            <a:r>
              <a:rPr lang="en-US" altLang="ko-KR" dirty="0"/>
              <a:t>, </a:t>
            </a:r>
            <a:r>
              <a:rPr lang="ko-KR" altLang="en-US" dirty="0"/>
              <a:t>각 방에 조용히 뉴스가 쌓이는 </a:t>
            </a:r>
            <a:r>
              <a:rPr lang="en-US" altLang="ko-KR" dirty="0"/>
              <a:t>'</a:t>
            </a:r>
            <a:r>
              <a:rPr lang="ko-KR" altLang="en-US" dirty="0" err="1"/>
              <a:t>사일런트</a:t>
            </a:r>
            <a:r>
              <a:rPr lang="ko-KR" altLang="en-US" dirty="0"/>
              <a:t> 업데이트</a:t>
            </a:r>
            <a:r>
              <a:rPr lang="en-US" altLang="ko-KR" dirty="0"/>
              <a:t>(Silent Update)' </a:t>
            </a:r>
            <a:r>
              <a:rPr lang="ko-KR" altLang="en-US" dirty="0"/>
              <a:t>방식을 채택했습니다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5. [NEW] </a:t>
            </a:r>
            <a:r>
              <a:rPr lang="ko-KR" altLang="en-US" b="1" dirty="0"/>
              <a:t>극한의 트래픽</a:t>
            </a:r>
            <a:r>
              <a:rPr lang="en-US" altLang="ko-KR" b="1" dirty="0"/>
              <a:t>/UX </a:t>
            </a:r>
            <a:r>
              <a:rPr lang="ko-KR" altLang="en-US" b="1" dirty="0"/>
              <a:t>방어</a:t>
            </a:r>
            <a:r>
              <a:rPr lang="en-US" altLang="ko-KR" b="1" dirty="0"/>
              <a:t>: </a:t>
            </a:r>
            <a:r>
              <a:rPr lang="ko-KR" altLang="en-US" b="1" dirty="0" err="1"/>
              <a:t>새로고침</a:t>
            </a:r>
            <a:r>
              <a:rPr lang="en-US" altLang="ko-KR" b="1" dirty="0"/>
              <a:t>(Refresh) </a:t>
            </a:r>
            <a:r>
              <a:rPr lang="ko-KR" altLang="en-US" b="1" dirty="0"/>
              <a:t>최적화</a:t>
            </a:r>
          </a:p>
          <a:p>
            <a:r>
              <a:rPr lang="en-US" altLang="ko-KR" b="1" dirty="0"/>
              <a:t>1</a:t>
            </a:r>
            <a:r>
              <a:rPr lang="ko-KR" altLang="en-US" b="1" dirty="0"/>
              <a:t>분 </a:t>
            </a:r>
            <a:r>
              <a:rPr lang="ko-KR" altLang="en-US" b="1" dirty="0" err="1"/>
              <a:t>스로틀링</a:t>
            </a:r>
            <a:r>
              <a:rPr lang="ko-KR" altLang="en-US" b="1" dirty="0"/>
              <a:t> </a:t>
            </a:r>
            <a:r>
              <a:rPr lang="en-US" altLang="ko-KR" b="1" dirty="0"/>
              <a:t>(Throttling):</a:t>
            </a:r>
            <a:r>
              <a:rPr lang="ko-KR" altLang="en-US" dirty="0"/>
              <a:t> 사용자가 </a:t>
            </a:r>
            <a:r>
              <a:rPr lang="ko-KR" altLang="en-US" dirty="0" err="1"/>
              <a:t>새로고침을</a:t>
            </a:r>
            <a:r>
              <a:rPr lang="ko-KR" altLang="en-US" dirty="0"/>
              <a:t> 무의미하게 연타할 경우</a:t>
            </a:r>
            <a:r>
              <a:rPr lang="en-US" altLang="ko-KR" dirty="0"/>
              <a:t>, 1</a:t>
            </a:r>
            <a:r>
              <a:rPr lang="ko-KR" altLang="en-US" dirty="0"/>
              <a:t>분간의 </a:t>
            </a:r>
            <a:r>
              <a:rPr lang="ko-KR" altLang="en-US" dirty="0" err="1"/>
              <a:t>쿨타임을</a:t>
            </a:r>
            <a:r>
              <a:rPr lang="ko-KR" altLang="en-US" dirty="0"/>
              <a:t> 적용해 서버로 향하는 불필요한 호출을 원천 차단합니다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90% </a:t>
            </a:r>
            <a:r>
              <a:rPr lang="ko-KR" altLang="en-US" b="1" dirty="0"/>
              <a:t>일치 </a:t>
            </a:r>
            <a:r>
              <a:rPr lang="ko-KR" altLang="en-US" b="1" dirty="0" err="1"/>
              <a:t>스킵</a:t>
            </a:r>
            <a:r>
              <a:rPr lang="ko-KR" altLang="en-US" b="1" dirty="0"/>
              <a:t> </a:t>
            </a:r>
            <a:r>
              <a:rPr lang="en-US" altLang="ko-KR" b="1" dirty="0"/>
              <a:t>(</a:t>
            </a:r>
            <a:r>
              <a:rPr lang="ko-KR" altLang="en-US" b="1" dirty="0"/>
              <a:t>스케줄링 테이블 대조</a:t>
            </a:r>
            <a:r>
              <a:rPr lang="en-US" altLang="ko-KR" b="1" dirty="0"/>
              <a:t>):</a:t>
            </a:r>
            <a:endParaRPr lang="ko-KR" altLang="en-US" dirty="0"/>
          </a:p>
          <a:p>
            <a:pPr lvl="1"/>
            <a:r>
              <a:rPr lang="ko-KR" altLang="en-US" dirty="0"/>
              <a:t>사용자가 </a:t>
            </a:r>
            <a:r>
              <a:rPr lang="ko-KR" altLang="en-US" dirty="0" err="1"/>
              <a:t>새로고침</a:t>
            </a:r>
            <a:r>
              <a:rPr lang="ko-KR" altLang="en-US" dirty="0"/>
              <a:t> 시 화면의 최신 </a:t>
            </a:r>
            <a:r>
              <a:rPr lang="en-US" altLang="ko-KR" dirty="0"/>
              <a:t>ID </a:t>
            </a:r>
            <a:r>
              <a:rPr lang="ko-KR" altLang="en-US" dirty="0"/>
              <a:t>목록을 서버에 전달합니다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서버는 </a:t>
            </a:r>
            <a:r>
              <a:rPr lang="ko-KR" altLang="en-US" dirty="0" err="1"/>
              <a:t>크롤링을</a:t>
            </a:r>
            <a:r>
              <a:rPr lang="ko-KR" altLang="en-US" dirty="0"/>
              <a:t> 다시 돌리지 않고</a:t>
            </a:r>
            <a:r>
              <a:rPr lang="en-US" altLang="ko-KR" dirty="0"/>
              <a:t>, </a:t>
            </a:r>
            <a:r>
              <a:rPr lang="ko-KR" altLang="en-US" dirty="0"/>
              <a:t>직전에 만들어둔 </a:t>
            </a:r>
            <a:r>
              <a:rPr lang="en-US" altLang="ko-KR" dirty="0"/>
              <a:t>'10</a:t>
            </a:r>
            <a:r>
              <a:rPr lang="ko-KR" altLang="en-US" dirty="0"/>
              <a:t>개 추천 스케줄링 테이블</a:t>
            </a:r>
            <a:r>
              <a:rPr lang="en-US" altLang="ko-KR" dirty="0"/>
              <a:t>'</a:t>
            </a:r>
            <a:r>
              <a:rPr lang="ko-KR" altLang="en-US" dirty="0"/>
              <a:t>과 대조합니다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9</a:t>
            </a:r>
            <a:r>
              <a:rPr lang="ko-KR" altLang="en-US" dirty="0"/>
              <a:t>개</a:t>
            </a:r>
            <a:r>
              <a:rPr lang="en-US" altLang="ko-KR" dirty="0"/>
              <a:t>(90%) </a:t>
            </a:r>
            <a:r>
              <a:rPr lang="ko-KR" altLang="en-US" dirty="0"/>
              <a:t>이상 동일하다면 무거운 뉴스 데이터를 내려주지 않고</a:t>
            </a:r>
            <a:r>
              <a:rPr lang="en-US" altLang="ko-KR" dirty="0"/>
              <a:t>, 304 Not Modified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 err="1"/>
              <a:t>변경점</a:t>
            </a:r>
            <a:r>
              <a:rPr lang="ko-KR" altLang="en-US" dirty="0"/>
              <a:t> 없음</a:t>
            </a:r>
            <a:r>
              <a:rPr lang="en-US" altLang="ko-KR" dirty="0"/>
              <a:t>) </a:t>
            </a:r>
            <a:r>
              <a:rPr lang="ko-KR" altLang="en-US" dirty="0"/>
              <a:t>신호만 아주 가볍게 반환합니다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UX </a:t>
            </a:r>
            <a:r>
              <a:rPr lang="ko-KR" altLang="en-US" b="1" dirty="0"/>
              <a:t>마감 처리</a:t>
            </a:r>
            <a:r>
              <a:rPr lang="en-US" altLang="ko-KR" b="1" dirty="0"/>
              <a:t>:</a:t>
            </a:r>
            <a:r>
              <a:rPr lang="ko-KR" altLang="en-US" dirty="0"/>
              <a:t> </a:t>
            </a:r>
            <a:r>
              <a:rPr lang="ko-KR" altLang="en-US" dirty="0" err="1"/>
              <a:t>프론트엔드에서는</a:t>
            </a:r>
            <a:r>
              <a:rPr lang="ko-KR" altLang="en-US" dirty="0"/>
              <a:t> 화면 렌더링</a:t>
            </a:r>
            <a:r>
              <a:rPr lang="en-US" altLang="ko-KR" dirty="0"/>
              <a:t>(</a:t>
            </a:r>
            <a:r>
              <a:rPr lang="ko-KR" altLang="en-US" dirty="0" err="1"/>
              <a:t>새로고침</a:t>
            </a:r>
            <a:r>
              <a:rPr lang="ko-KR" altLang="en-US" dirty="0"/>
              <a:t> 깜빡임</a:t>
            </a:r>
            <a:r>
              <a:rPr lang="en-US" altLang="ko-KR" dirty="0"/>
              <a:t>)</a:t>
            </a:r>
            <a:r>
              <a:rPr lang="ko-KR" altLang="en-US" dirty="0"/>
              <a:t>을 생략하고</a:t>
            </a:r>
            <a:r>
              <a:rPr lang="en-US" altLang="ko-KR" dirty="0"/>
              <a:t>, </a:t>
            </a:r>
            <a:r>
              <a:rPr lang="ko-KR" altLang="en-US" dirty="0"/>
              <a:t>하단에 </a:t>
            </a:r>
            <a:r>
              <a:rPr lang="en-US" altLang="ko-KR" dirty="0"/>
              <a:t>"✅ </a:t>
            </a:r>
            <a:r>
              <a:rPr lang="ko-KR" altLang="en-US" dirty="0"/>
              <a:t>가장 최신 상태입니다</a:t>
            </a:r>
            <a:r>
              <a:rPr lang="en-US" altLang="ko-KR" dirty="0"/>
              <a:t>."</a:t>
            </a:r>
            <a:r>
              <a:rPr lang="ko-KR" altLang="en-US" dirty="0"/>
              <a:t>라는 토스트 팝업만 띄워주어 사용자의 피로감을 없앱니다</a:t>
            </a:r>
            <a:r>
              <a:rPr lang="en-US" altLang="ko-K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24541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87A4B12E-F18E-B813-7565-67F7EE05B7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2161" y="584821"/>
            <a:ext cx="11187678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🚀 [데이터 흐름도] 오늘의 뉴스: 초경량 수집/배포 파이프라인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[STEP 1: 임시 확보 (</a:t>
            </a: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Fetch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)]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🕒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5분 주기 스케줄러 작동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주요 언론사의 최신 기사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크롤링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(제목, 본문 텍스트, 원본 URL 임시 저장)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⬇️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[STEP 2: 1차 방어벽 (</a:t>
            </a: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Filter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)]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🧮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유사도 및 중복 검사 (AI 미사용, 비용 0원)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어제/오늘 발송된 기사 지문(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Hash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)과 대조하여 똑같은 사건 쳐내기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결과: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진짜 새롭고 영양가 있는 **'최대 10개'**의 핵심 기사만 생존!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⬇️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[STEP 3: AI 가공 (</a:t>
            </a: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Transform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)]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🤖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선택적 </a:t>
            </a: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Gemini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API 호출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살아남은 소수의 기사 본문만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AI에게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전달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결과: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사용자의 시선을 끌어당길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'1줄 핵심 요약 텍스트'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획득!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⬇️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[STEP 4: 영구 폐기 및 경량 저장 (</a:t>
            </a: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Drop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&amp; </a:t>
            </a: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Load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)]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🗑️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기사 본문 텍스트 즉시 영구 삭제 (스토리지/저작권 방어)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💾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중앙 DB 저장 (초경량 데이터):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👉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[복합키 ID(예: 2603270001)] | [주제] | [1줄 요약] | [원본 URL]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⬇️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[STEP 5: 맞춤형 분배 (</a:t>
            </a: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Round-Robin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Mix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)]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📱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사용자 단말기 요청 수신: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"나 이 주제 원하고, 이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ID들은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이미 받았어!"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🎯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믹스 &amp; 필터: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이미 읽은 건 빼고, 남은 것 중 주제별로 공평하게 섞어서(라운드 로빈) 알림 발송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⬇️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[STEP 6: 사용자 경험 (</a:t>
            </a: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Outlink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UX)]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🔔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알림 수신: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"✅ 현재 가장 뜨거운 핵심 이슈 7개!"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👆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클릭 및 이동: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사용자가 메신저형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UI에서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'1줄 요약' 말풍선을 클릭하면, 즉시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해당 언론사의 원본 URL(아웃링크)로 웹 브라우저가 열림!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77518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0FA093-F133-3ED0-31D1-3ED659BCA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4D7E9F4F-BB93-0DEA-B61C-CFBA31F09B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0268" y="2075007"/>
            <a:ext cx="5509355" cy="4351338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DA019E4-DD8E-A77F-FA40-3937148C9133}"/>
              </a:ext>
            </a:extLst>
          </p:cNvPr>
          <p:cNvSpPr txBox="1"/>
          <p:nvPr/>
        </p:nvSpPr>
        <p:spPr>
          <a:xfrm>
            <a:off x="5403273" y="2075007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뱃지</a:t>
            </a:r>
            <a:r>
              <a:rPr lang="ko-KR" altLang="en-US" dirty="0"/>
              <a:t> 카운트 로직</a:t>
            </a:r>
            <a:r>
              <a:rPr lang="en-US" altLang="ko-KR" dirty="0"/>
              <a:t>: </a:t>
            </a:r>
            <a:r>
              <a:rPr lang="ko-KR" altLang="en-US" dirty="0"/>
              <a:t>서버에서 새로 긁어온 </a:t>
            </a:r>
            <a:r>
              <a:rPr lang="ko-KR" altLang="en-US" dirty="0" err="1"/>
              <a:t>핫한</a:t>
            </a:r>
            <a:r>
              <a:rPr lang="ko-KR" altLang="en-US" dirty="0"/>
              <a:t> 뉴스 개수와</a:t>
            </a:r>
            <a:r>
              <a:rPr lang="en-US" altLang="ko-KR" dirty="0"/>
              <a:t>, </a:t>
            </a:r>
            <a:r>
              <a:rPr lang="ko-KR" altLang="en-US" dirty="0"/>
              <a:t>내 폰에 저장된 읽은 </a:t>
            </a:r>
            <a:r>
              <a:rPr lang="en-US" altLang="ko-KR" dirty="0"/>
              <a:t>ID </a:t>
            </a:r>
            <a:r>
              <a:rPr lang="ko-KR" altLang="en-US" dirty="0"/>
              <a:t>목록을 비교해서 저 </a:t>
            </a:r>
            <a:r>
              <a:rPr lang="en-US" altLang="ko-KR" dirty="0"/>
              <a:t>(10)</a:t>
            </a:r>
            <a:r>
              <a:rPr lang="ko-KR" altLang="en-US" dirty="0"/>
              <a:t>이라는 숫자를 </a:t>
            </a:r>
            <a:r>
              <a:rPr lang="ko-KR" altLang="en-US" dirty="0" err="1"/>
              <a:t>프론트엔드가</a:t>
            </a:r>
            <a:r>
              <a:rPr lang="ko-KR" altLang="en-US" dirty="0"/>
              <a:t> 계산해서 띄워줍니다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 err="1"/>
              <a:t>사일런트</a:t>
            </a:r>
            <a:r>
              <a:rPr lang="ko-KR" altLang="en-US" dirty="0"/>
              <a:t> 업데이트</a:t>
            </a:r>
            <a:r>
              <a:rPr lang="en-US" altLang="ko-KR" dirty="0"/>
              <a:t>: </a:t>
            </a:r>
            <a:r>
              <a:rPr lang="ko-KR" altLang="en-US" dirty="0"/>
              <a:t>일하고 있을 때는 방해 안 되게 저 방들 안에 뉴스가 조용히 쌓이면서 숫자만 올라갑니다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읽음 처리</a:t>
            </a:r>
            <a:r>
              <a:rPr lang="en-US" altLang="ko-KR" dirty="0"/>
              <a:t>: </a:t>
            </a:r>
            <a:r>
              <a:rPr lang="ko-KR" altLang="en-US" dirty="0"/>
              <a:t>퇴근길에 </a:t>
            </a:r>
            <a:r>
              <a:rPr lang="en-US" altLang="ko-KR" dirty="0"/>
              <a:t>[</a:t>
            </a:r>
            <a:r>
              <a:rPr lang="ko-KR" altLang="en-US" dirty="0"/>
              <a:t>아이티</a:t>
            </a:r>
            <a:r>
              <a:rPr lang="en-US" altLang="ko-KR" dirty="0"/>
              <a:t>] </a:t>
            </a:r>
            <a:r>
              <a:rPr lang="ko-KR" altLang="en-US" dirty="0"/>
              <a:t>방에 들어가서 </a:t>
            </a:r>
            <a:r>
              <a:rPr lang="en-US" altLang="ko-KR" dirty="0"/>
              <a:t>1</a:t>
            </a:r>
            <a:r>
              <a:rPr lang="ko-KR" altLang="en-US" dirty="0"/>
              <a:t>줄 요약들을 쭉 훑어보는 순간</a:t>
            </a:r>
            <a:r>
              <a:rPr lang="en-US" altLang="ko-KR" dirty="0"/>
              <a:t>, </a:t>
            </a:r>
            <a:r>
              <a:rPr lang="ko-KR" altLang="en-US" dirty="0"/>
              <a:t>단말기가 뉴스 </a:t>
            </a:r>
            <a:r>
              <a:rPr lang="en-US" altLang="ko-KR" dirty="0"/>
              <a:t>ID</a:t>
            </a:r>
            <a:r>
              <a:rPr lang="ko-KR" altLang="en-US" dirty="0"/>
              <a:t>들을 기억하면서 저 </a:t>
            </a:r>
            <a:r>
              <a:rPr lang="ko-KR" altLang="en-US" dirty="0" err="1"/>
              <a:t>뱃지</a:t>
            </a:r>
            <a:r>
              <a:rPr lang="ko-KR" altLang="en-US" dirty="0"/>
              <a:t> 숫자가 </a:t>
            </a:r>
            <a:r>
              <a:rPr lang="ko-KR" altLang="en-US" dirty="0" err="1"/>
              <a:t>스르륵</a:t>
            </a:r>
            <a:r>
              <a:rPr lang="ko-KR" altLang="en-US" dirty="0"/>
              <a:t> 사라집니다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43876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2364</Words>
  <Application>Microsoft Office PowerPoint</Application>
  <PresentationFormat>와이드스크린</PresentationFormat>
  <Paragraphs>127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Arial Unicode MS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준성 김</dc:creator>
  <cp:lastModifiedBy>211</cp:lastModifiedBy>
  <cp:revision>11</cp:revision>
  <dcterms:created xsi:type="dcterms:W3CDTF">2026-03-27T08:02:48Z</dcterms:created>
  <dcterms:modified xsi:type="dcterms:W3CDTF">2026-03-27T11:03:46Z</dcterms:modified>
</cp:coreProperties>
</file>